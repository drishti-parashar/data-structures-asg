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Inconsolata" pitchFamily="1" charset="0"/>
      <p:regular r:id="rId17"/>
    </p:embeddedFont>
    <p:embeddedFont>
      <p:font typeface="Inconsolata Bold" pitchFamily="1" charset="0"/>
      <p:regular r:id="rId18"/>
      <p:bold r:id="rId19"/>
    </p:embeddedFont>
    <p:embeddedFont>
      <p:font typeface="Montserrat Black" panose="00000A00000000000000" pitchFamily="2"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F1AF90C-3E86-5C40-96BB-B1590C221994}" type="datetimeFigureOut">
              <a:rPr lang="en-US" smtClean="0"/>
              <a:t>10/1/2026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A86BA006-8895-AE4F-B8DA-9115D50D9522}" type="slidenum">
              <a:rPr lang="en-US" smtClean="0"/>
              <a:t>‹#›</a:t>
            </a:fld>
            <a:endParaRPr lang="en-US"/>
          </a:p>
        </p:txBody>
      </p:sp>
    </p:spTree>
    <p:extLst>
      <p:ext uri="{BB962C8B-B14F-4D97-AF65-F5344CB8AC3E}">
        <p14:creationId xmlns:p14="http://schemas.microsoft.com/office/powerpoint/2010/main" val="1652678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ECE4"/>
          </a:solidFill>
          <a:ln/>
        </p:spPr>
      </p:sp>
      <p:sp>
        <p:nvSpPr>
          <p:cNvPr id="3" name="Shape 1"/>
          <p:cNvSpPr/>
          <p:nvPr/>
        </p:nvSpPr>
        <p:spPr>
          <a:xfrm>
            <a:off x="0" y="0"/>
            <a:ext cx="12191695" cy="6858000"/>
          </a:xfrm>
          <a:prstGeom prst="rect">
            <a:avLst/>
          </a:prstGeom>
          <a:solidFill>
            <a:srgbClr val="F8ECE4"/>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290340"/>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1617"/>
                </a:solidFill>
                <a:latin typeface="Montserrat Black" pitchFamily="34" charset="0"/>
                <a:ea typeface="Montserrat Black" pitchFamily="34" charset="-122"/>
                <a:cs typeface="Montserrat Black" pitchFamily="34" charset="-120"/>
              </a:rPr>
              <a:t>Movie Ticket Booking System in C</a:t>
            </a:r>
            <a:endParaRPr lang="en-US" sz="3250" dirty="0"/>
          </a:p>
        </p:txBody>
      </p:sp>
      <p:sp>
        <p:nvSpPr>
          <p:cNvPr id="3" name="Text 1"/>
          <p:cNvSpPr/>
          <p:nvPr/>
        </p:nvSpPr>
        <p:spPr>
          <a:xfrm>
            <a:off x="661475" y="1873151"/>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Data Structures Mini Project</a:t>
            </a:r>
            <a:endParaRPr lang="en-US" sz="1600" dirty="0"/>
          </a:p>
        </p:txBody>
      </p:sp>
      <p:sp>
        <p:nvSpPr>
          <p:cNvPr id="4" name="Text 2"/>
          <p:cNvSpPr/>
          <p:nvPr/>
        </p:nvSpPr>
        <p:spPr>
          <a:xfrm>
            <a:off x="661475" y="2379663"/>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151617"/>
                </a:solidFill>
                <a:latin typeface="Inconsolata" pitchFamily="34" charset="0"/>
                <a:ea typeface="Inconsolata" pitchFamily="34" charset="-122"/>
                <a:cs typeface="Inconsolata" pitchFamily="34" charset="-120"/>
              </a:rPr>
              <a:t>A console-based cinema booking system built in C, demonstrating practical applications of structures, arrays, queues, linear search, bubble sort, functions, loops, and conditional statements.</a:t>
            </a:r>
            <a:endParaRPr lang="en-US" sz="1300" dirty="0"/>
          </a:p>
        </p:txBody>
      </p:sp>
      <p:sp>
        <p:nvSpPr>
          <p:cNvPr id="5" name="Shape 3"/>
          <p:cNvSpPr/>
          <p:nvPr/>
        </p:nvSpPr>
        <p:spPr>
          <a:xfrm>
            <a:off x="661475" y="3136205"/>
            <a:ext cx="10868745" cy="19050"/>
          </a:xfrm>
          <a:prstGeom prst="roundRect">
            <a:avLst>
              <a:gd name="adj" fmla="val 49999"/>
            </a:avLst>
          </a:prstGeom>
          <a:solidFill>
            <a:srgbClr val="151617">
              <a:alpha val="50000"/>
            </a:srgbClr>
          </a:solidFill>
          <a:ln/>
        </p:spPr>
      </p:sp>
      <p:sp>
        <p:nvSpPr>
          <p:cNvPr id="6" name="Text 4"/>
          <p:cNvSpPr/>
          <p:nvPr/>
        </p:nvSpPr>
        <p:spPr>
          <a:xfrm>
            <a:off x="661475" y="3444577"/>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Team Members</a:t>
            </a:r>
            <a:endParaRPr lang="en-US" sz="1600" dirty="0"/>
          </a:p>
        </p:txBody>
      </p:sp>
      <p:sp>
        <p:nvSpPr>
          <p:cNvPr id="7" name="Text 5"/>
          <p:cNvSpPr/>
          <p:nvPr/>
        </p:nvSpPr>
        <p:spPr>
          <a:xfrm>
            <a:off x="661475" y="3951089"/>
            <a:ext cx="10868745" cy="1616571"/>
          </a:xfrm>
          <a:prstGeom prst="rect">
            <a:avLst/>
          </a:prstGeom>
          <a:noFill/>
          <a:ln/>
        </p:spPr>
        <p:txBody>
          <a:bodyPr wrap="square" lIns="0" tIns="0" rIns="0" bIns="0" rtlCol="0" anchor="t"/>
          <a:lstStyle/>
          <a:p>
            <a:pPr marL="0" indent="0" algn="l">
              <a:lnSpc>
                <a:spcPct val="133000"/>
              </a:lnSpc>
              <a:spcAft>
                <a:spcPts val="1450"/>
              </a:spcAft>
              <a:buNone/>
            </a:pPr>
            <a:r>
              <a:rPr lang="en-GB" sz="1300" dirty="0">
                <a:solidFill>
                  <a:srgbClr val="151617"/>
                </a:solidFill>
                <a:latin typeface="Inconsolata" pitchFamily="34" charset="0"/>
                <a:ea typeface="Inconsolata" pitchFamily="34" charset="-122"/>
              </a:rPr>
              <a:t>Miraya Ballav(1262251072)</a:t>
            </a:r>
            <a:endParaRPr lang="en-US" sz="1300" dirty="0"/>
          </a:p>
          <a:p>
            <a:pPr marL="0" indent="0" algn="l">
              <a:lnSpc>
                <a:spcPct val="133000"/>
              </a:lnSpc>
              <a:spcAft>
                <a:spcPts val="1450"/>
              </a:spcAft>
              <a:buNone/>
            </a:pPr>
            <a:r>
              <a:rPr lang="en-GB" sz="1300" dirty="0">
                <a:solidFill>
                  <a:srgbClr val="151617"/>
                </a:solidFill>
                <a:latin typeface="Inconsolata" pitchFamily="34" charset="0"/>
                <a:ea typeface="Inconsolata" pitchFamily="34" charset="-122"/>
              </a:rPr>
              <a:t>Drishti Parashar(1262250911)  </a:t>
            </a:r>
            <a:endParaRPr lang="en-US" sz="1300" dirty="0"/>
          </a:p>
          <a:p>
            <a:pPr marL="0" indent="0" algn="l">
              <a:lnSpc>
                <a:spcPct val="133000"/>
              </a:lnSpc>
              <a:spcAft>
                <a:spcPts val="1450"/>
              </a:spcAft>
              <a:buNone/>
            </a:pPr>
            <a:r>
              <a:rPr lang="en-GB" sz="1300" dirty="0">
                <a:solidFill>
                  <a:srgbClr val="151617"/>
                </a:solidFill>
                <a:latin typeface="Inconsolata" pitchFamily="34" charset="0"/>
                <a:ea typeface="Inconsolata" pitchFamily="34" charset="-122"/>
              </a:rPr>
              <a:t>Saksham Jain(1262250842)</a:t>
            </a:r>
            <a:endParaRPr lang="en-US" sz="1300" dirty="0"/>
          </a:p>
          <a:p>
            <a:pPr marL="0" indent="0" algn="l">
              <a:lnSpc>
                <a:spcPct val="133000"/>
              </a:lnSpc>
              <a:buNone/>
            </a:pPr>
            <a:r>
              <a:rPr lang="en-GB" sz="1300" dirty="0">
                <a:solidFill>
                  <a:srgbClr val="151617"/>
                </a:solidFill>
                <a:latin typeface="Inconsolata" pitchFamily="34" charset="0"/>
                <a:ea typeface="Inconsolata" pitchFamily="34" charset="-122"/>
              </a:rPr>
              <a:t>Aayush Manjrekar(1262251824)</a:t>
            </a:r>
            <a:endParaRPr lang="en-US" sz="1300" dirty="0"/>
          </a:p>
        </p:txBody>
      </p:sp>
      <p:pic>
        <p:nvPicPr>
          <p:cNvPr id="8" name="Picture 7">
            <a:extLst>
              <a:ext uri="{FF2B5EF4-FFF2-40B4-BE49-F238E27FC236}">
                <a16:creationId xmlns:a16="http://schemas.microsoft.com/office/drawing/2014/main" id="{91B3F9B9-9361-E4B7-71A4-B23651FA1971}"/>
              </a:ext>
            </a:extLst>
          </p:cNvPr>
          <p:cNvPicPr>
            <a:picLocks noChangeAspect="1"/>
          </p:cNvPicPr>
          <p:nvPr/>
        </p:nvPicPr>
        <p:blipFill>
          <a:blip r:embed="rId3"/>
          <a:stretch>
            <a:fillRect/>
          </a:stretch>
        </p:blipFill>
        <p:spPr>
          <a:xfrm>
            <a:off x="8394090" y="5813457"/>
            <a:ext cx="3718472" cy="10211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20316"/>
            <a:ext cx="6296860" cy="508695"/>
          </a:xfrm>
          <a:prstGeom prst="rect">
            <a:avLst/>
          </a:prstGeom>
          <a:noFill/>
          <a:ln/>
        </p:spPr>
        <p:txBody>
          <a:bodyPr wrap="none" lIns="0" tIns="0" rIns="0" bIns="0" rtlCol="0" anchor="t"/>
          <a:lstStyle/>
          <a:p>
            <a:pPr marL="0" indent="0" algn="l">
              <a:lnSpc>
                <a:spcPct val="104000"/>
              </a:lnSpc>
              <a:buNone/>
            </a:pPr>
            <a:r>
              <a:rPr lang="en-US" sz="3200" dirty="0">
                <a:solidFill>
                  <a:srgbClr val="151617"/>
                </a:solidFill>
                <a:latin typeface="Montserrat Black" pitchFamily="34" charset="0"/>
                <a:ea typeface="Montserrat Black" pitchFamily="34" charset="-122"/>
                <a:cs typeface="Montserrat Black" pitchFamily="34" charset="-120"/>
              </a:rPr>
              <a:t>Project Overview</a:t>
            </a:r>
            <a:endParaRPr lang="en-US" sz="3200" dirty="0"/>
          </a:p>
        </p:txBody>
      </p:sp>
      <p:sp>
        <p:nvSpPr>
          <p:cNvPr id="4" name="Text 1"/>
          <p:cNvSpPr/>
          <p:nvPr/>
        </p:nvSpPr>
        <p:spPr>
          <a:xfrm>
            <a:off x="5233360" y="1369318"/>
            <a:ext cx="6296860" cy="775395"/>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151617"/>
                </a:solidFill>
                <a:latin typeface="Inconsolata" pitchFamily="34" charset="0"/>
                <a:ea typeface="Inconsolata" pitchFamily="34" charset="-122"/>
                <a:cs typeface="Inconsolata" pitchFamily="34" charset="-120"/>
              </a:rPr>
              <a:t>The Movie Ticket Booking System simulates a small cinema where users interact through a console menu. The system manages 30 predefined movies, handles seat availability, and maintains a waiting queue when shows are sold out.</a:t>
            </a:r>
            <a:endParaRPr lang="en-US" sz="1250" dirty="0"/>
          </a:p>
        </p:txBody>
      </p:sp>
      <p:sp>
        <p:nvSpPr>
          <p:cNvPr id="5" name="Shape 2"/>
          <p:cNvSpPr/>
          <p:nvPr/>
        </p:nvSpPr>
        <p:spPr>
          <a:xfrm>
            <a:off x="5233360" y="2324993"/>
            <a:ext cx="3068263" cy="1463973"/>
          </a:xfrm>
          <a:prstGeom prst="roundRect">
            <a:avLst>
              <a:gd name="adj" fmla="val 520"/>
            </a:avLst>
          </a:prstGeom>
          <a:solidFill>
            <a:srgbClr val="F8ECE4"/>
          </a:solidFill>
          <a:ln w="6350">
            <a:solidFill>
              <a:srgbClr val="151617"/>
            </a:solidFill>
            <a:prstDash val="solid"/>
          </a:ln>
          <a:effectLst>
            <a:outerShdw blurRad="127" dist="20320" dir="2700000" algn="bl" rotWithShape="0">
              <a:srgbClr val="151617">
                <a:alpha val="100000"/>
              </a:srgbClr>
            </a:outerShdw>
          </a:effectLst>
        </p:spPr>
      </p:sp>
      <p:sp>
        <p:nvSpPr>
          <p:cNvPr id="6" name="Text 3"/>
          <p:cNvSpPr/>
          <p:nvPr/>
        </p:nvSpPr>
        <p:spPr>
          <a:xfrm>
            <a:off x="5402425" y="2494062"/>
            <a:ext cx="2730134" cy="254298"/>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View &amp; Search</a:t>
            </a:r>
            <a:endParaRPr lang="en-US" sz="1600" dirty="0"/>
          </a:p>
        </p:txBody>
      </p:sp>
      <p:sp>
        <p:nvSpPr>
          <p:cNvPr id="7" name="Text 4"/>
          <p:cNvSpPr/>
          <p:nvPr/>
        </p:nvSpPr>
        <p:spPr>
          <a:xfrm>
            <a:off x="5402425" y="2844502"/>
            <a:ext cx="2730134" cy="775395"/>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151617"/>
                </a:solidFill>
                <a:latin typeface="Inconsolata" pitchFamily="34" charset="0"/>
                <a:ea typeface="Inconsolata" pitchFamily="34" charset="-122"/>
                <a:cs typeface="Inconsolata" pitchFamily="34" charset="-120"/>
              </a:rPr>
              <a:t>Display all movies, view details, and search by Movie ID using linear search.</a:t>
            </a:r>
            <a:endParaRPr lang="en-US" sz="1250" dirty="0"/>
          </a:p>
        </p:txBody>
      </p:sp>
      <p:sp>
        <p:nvSpPr>
          <p:cNvPr id="8" name="Shape 5"/>
          <p:cNvSpPr/>
          <p:nvPr/>
        </p:nvSpPr>
        <p:spPr>
          <a:xfrm>
            <a:off x="8461858" y="2324993"/>
            <a:ext cx="3068362" cy="1463973"/>
          </a:xfrm>
          <a:prstGeom prst="roundRect">
            <a:avLst>
              <a:gd name="adj" fmla="val 520"/>
            </a:avLst>
          </a:prstGeom>
          <a:solidFill>
            <a:srgbClr val="F8ECE4"/>
          </a:solidFill>
          <a:ln w="6350">
            <a:solidFill>
              <a:srgbClr val="151617"/>
            </a:solidFill>
            <a:prstDash val="solid"/>
          </a:ln>
          <a:effectLst>
            <a:outerShdw blurRad="127" dist="20320" dir="2700000" algn="bl" rotWithShape="0">
              <a:srgbClr val="151617">
                <a:alpha val="100000"/>
              </a:srgbClr>
            </a:outerShdw>
          </a:effectLst>
        </p:spPr>
      </p:sp>
      <p:sp>
        <p:nvSpPr>
          <p:cNvPr id="9" name="Text 6"/>
          <p:cNvSpPr/>
          <p:nvPr/>
        </p:nvSpPr>
        <p:spPr>
          <a:xfrm>
            <a:off x="8630922" y="2494062"/>
            <a:ext cx="2730233" cy="254298"/>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Sort &amp; Book</a:t>
            </a:r>
            <a:endParaRPr lang="en-US" sz="1600" dirty="0"/>
          </a:p>
        </p:txBody>
      </p:sp>
      <p:sp>
        <p:nvSpPr>
          <p:cNvPr id="10" name="Text 7"/>
          <p:cNvSpPr/>
          <p:nvPr/>
        </p:nvSpPr>
        <p:spPr>
          <a:xfrm>
            <a:off x="8630922" y="2844502"/>
            <a:ext cx="2730233" cy="775395"/>
          </a:xfrm>
          <a:prstGeom prst="rect">
            <a:avLst/>
          </a:prstGeom>
          <a:noFill/>
          <a:ln/>
        </p:spPr>
        <p:txBody>
          <a:bodyPr wrap="square" lIns="0" tIns="0" rIns="0" bIns="0" rtlCol="0" anchor="t">
            <a:normAutofit/>
          </a:bodyPr>
          <a:lstStyle/>
          <a:p>
            <a:pPr marL="0" indent="0" algn="l">
              <a:lnSpc>
                <a:spcPct val="132000"/>
              </a:lnSpc>
              <a:buNone/>
            </a:pPr>
            <a:r>
              <a:rPr lang="en-US" sz="1250" dirty="0">
                <a:solidFill>
                  <a:srgbClr val="151617"/>
                </a:solidFill>
                <a:latin typeface="Inconsolata" pitchFamily="34" charset="0"/>
                <a:ea typeface="Inconsolata" pitchFamily="34" charset="-122"/>
                <a:cs typeface="Inconsolata" pitchFamily="34" charset="-120"/>
              </a:rPr>
              <a:t>Sort movies by ticket price using bubble sort and book available seats.</a:t>
            </a:r>
            <a:endParaRPr lang="en-US" sz="1250" dirty="0"/>
          </a:p>
        </p:txBody>
      </p:sp>
      <p:sp>
        <p:nvSpPr>
          <p:cNvPr id="11" name="Shape 8"/>
          <p:cNvSpPr/>
          <p:nvPr/>
        </p:nvSpPr>
        <p:spPr>
          <a:xfrm>
            <a:off x="5233360" y="3949204"/>
            <a:ext cx="6296860" cy="1205508"/>
          </a:xfrm>
          <a:prstGeom prst="roundRect">
            <a:avLst>
              <a:gd name="adj" fmla="val 632"/>
            </a:avLst>
          </a:prstGeom>
          <a:solidFill>
            <a:srgbClr val="F8ECE4"/>
          </a:solidFill>
          <a:ln w="6350">
            <a:solidFill>
              <a:srgbClr val="151617"/>
            </a:solidFill>
            <a:prstDash val="solid"/>
          </a:ln>
          <a:effectLst>
            <a:outerShdw blurRad="127" dist="20320" dir="2700000" algn="bl" rotWithShape="0">
              <a:srgbClr val="151617">
                <a:alpha val="100000"/>
              </a:srgbClr>
            </a:outerShdw>
          </a:effectLst>
        </p:spPr>
      </p:sp>
      <p:sp>
        <p:nvSpPr>
          <p:cNvPr id="12" name="Text 9"/>
          <p:cNvSpPr/>
          <p:nvPr/>
        </p:nvSpPr>
        <p:spPr>
          <a:xfrm>
            <a:off x="5402425" y="4118273"/>
            <a:ext cx="5958731" cy="254298"/>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Cancel &amp; Queue</a:t>
            </a:r>
            <a:endParaRPr lang="en-US" sz="1600" dirty="0"/>
          </a:p>
        </p:txBody>
      </p:sp>
      <p:sp>
        <p:nvSpPr>
          <p:cNvPr id="13" name="Text 10"/>
          <p:cNvSpPr/>
          <p:nvPr/>
        </p:nvSpPr>
        <p:spPr>
          <a:xfrm>
            <a:off x="5402425" y="4468713"/>
            <a:ext cx="5958731" cy="516930"/>
          </a:xfrm>
          <a:prstGeom prst="rect">
            <a:avLst/>
          </a:prstGeom>
          <a:noFill/>
          <a:ln/>
        </p:spPr>
        <p:txBody>
          <a:bodyPr wrap="square" lIns="0" tIns="0" rIns="0" bIns="0" rtlCol="0" anchor="t">
            <a:normAutofit fontScale="92500" lnSpcReduction="20000"/>
          </a:bodyPr>
          <a:lstStyle/>
          <a:p>
            <a:r>
              <a:rPr lang="en-IN" sz="1400" dirty="0">
                <a:latin typeface="Inconsolata" pitchFamily="1" charset="0"/>
                <a:ea typeface="Inconsolata" pitchFamily="1" charset="0"/>
              </a:rPr>
              <a:t>Cancel tickets using Booking ID. When a show is sold out, customers can join a FIFO waiting queue, and when a seat becomes available through cancellation, the waiting customer is automatically assigned the seat.</a:t>
            </a:r>
            <a:endParaRPr lang="en-US" sz="1250" dirty="0">
              <a:latin typeface="Inconsolata" pitchFamily="1" charset="0"/>
              <a:ea typeface="Inconsolata" pitchFamily="1" charset="0"/>
            </a:endParaRPr>
          </a:p>
        </p:txBody>
      </p:sp>
      <p:pic>
        <p:nvPicPr>
          <p:cNvPr id="17" name="Picture 16">
            <a:extLst>
              <a:ext uri="{FF2B5EF4-FFF2-40B4-BE49-F238E27FC236}">
                <a16:creationId xmlns:a16="http://schemas.microsoft.com/office/drawing/2014/main" id="{12675B3D-0273-E753-C5EB-3BD1B05119D4}"/>
              </a:ext>
            </a:extLst>
          </p:cNvPr>
          <p:cNvPicPr>
            <a:picLocks noChangeAspect="1"/>
          </p:cNvPicPr>
          <p:nvPr/>
        </p:nvPicPr>
        <p:blipFill>
          <a:blip r:embed="rId4"/>
          <a:stretch>
            <a:fillRect/>
          </a:stretch>
        </p:blipFill>
        <p:spPr>
          <a:xfrm>
            <a:off x="8219014" y="6152469"/>
            <a:ext cx="3972986" cy="6831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65931"/>
            <a:ext cx="10868745" cy="476448"/>
          </a:xfrm>
          <a:prstGeom prst="rect">
            <a:avLst/>
          </a:prstGeom>
          <a:noFill/>
          <a:ln/>
        </p:spPr>
        <p:txBody>
          <a:bodyPr wrap="none" lIns="0" tIns="0" rIns="0" bIns="0" rtlCol="0" anchor="t"/>
          <a:lstStyle/>
          <a:p>
            <a:pPr marL="0" indent="0" algn="l">
              <a:lnSpc>
                <a:spcPct val="104000"/>
              </a:lnSpc>
              <a:buNone/>
            </a:pPr>
            <a:r>
              <a:rPr lang="en-US" sz="3000" dirty="0">
                <a:solidFill>
                  <a:srgbClr val="151617"/>
                </a:solidFill>
                <a:latin typeface="Montserrat Black" pitchFamily="34" charset="0"/>
                <a:ea typeface="Montserrat Black" pitchFamily="34" charset="-122"/>
                <a:cs typeface="Montserrat Black" pitchFamily="34" charset="-120"/>
              </a:rPr>
              <a:t>Data Structures &amp; Algorithms Used</a:t>
            </a:r>
            <a:endParaRPr lang="en-US" sz="3000" dirty="0"/>
          </a:p>
        </p:txBody>
      </p:sp>
      <p:sp>
        <p:nvSpPr>
          <p:cNvPr id="3" name="Text 1"/>
          <p:cNvSpPr/>
          <p:nvPr/>
        </p:nvSpPr>
        <p:spPr>
          <a:xfrm>
            <a:off x="661475" y="1223466"/>
            <a:ext cx="10868745"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151617"/>
                </a:solidFill>
                <a:latin typeface="Inconsolata" pitchFamily="34" charset="0"/>
                <a:ea typeface="Inconsolata" pitchFamily="34" charset="-122"/>
                <a:cs typeface="Inconsolata" pitchFamily="34" charset="-120"/>
              </a:rPr>
              <a:t>This project integrates eight core C programming and DSA concepts. Each concept maps directly to a functional requirement of the booking system.</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3121655658"/>
              </p:ext>
            </p:extLst>
          </p:nvPr>
        </p:nvGraphicFramePr>
        <p:xfrm>
          <a:off x="661475" y="1850430"/>
          <a:ext cx="10868746" cy="3793135"/>
        </p:xfrm>
        <a:graphic>
          <a:graphicData uri="http://schemas.openxmlformats.org/drawingml/2006/table">
            <a:tbl>
              <a:tblPr/>
              <a:tblGrid>
                <a:gridCol w="3804061">
                  <a:extLst>
                    <a:ext uri="{9D8B030D-6E8A-4147-A177-3AD203B41FA5}">
                      <a16:colId xmlns:a16="http://schemas.microsoft.com/office/drawing/2014/main" val="20000"/>
                    </a:ext>
                  </a:extLst>
                </a:gridCol>
                <a:gridCol w="7064685">
                  <a:extLst>
                    <a:ext uri="{9D8B030D-6E8A-4147-A177-3AD203B41FA5}">
                      <a16:colId xmlns:a16="http://schemas.microsoft.com/office/drawing/2014/main" val="20001"/>
                    </a:ext>
                  </a:extLst>
                </a:gridCol>
              </a:tblGrid>
              <a:tr h="418990">
                <a:tc>
                  <a:txBody>
                    <a:bodyPr/>
                    <a:lstStyle/>
                    <a:p>
                      <a:pPr marL="0" indent="0" algn="l">
                        <a:buNone/>
                      </a:pPr>
                      <a:r>
                        <a:rPr lang="en-US" sz="1200" b="1" dirty="0">
                          <a:solidFill>
                            <a:srgbClr val="151617"/>
                          </a:solidFill>
                          <a:latin typeface="Inconsolata" pitchFamily="34" charset="0"/>
                          <a:ea typeface="Inconsolata" pitchFamily="34" charset="-122"/>
                          <a:cs typeface="Inconsolata" pitchFamily="34" charset="-120"/>
                        </a:rPr>
                        <a:t>DSA / C Concept</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b="1" dirty="0">
                          <a:solidFill>
                            <a:srgbClr val="151617"/>
                          </a:solidFill>
                          <a:latin typeface="Inconsolata" pitchFamily="34" charset="0"/>
                          <a:ea typeface="Inconsolata" pitchFamily="34" charset="-122"/>
                          <a:cs typeface="Inconsolata" pitchFamily="34" charset="-120"/>
                        </a:rPr>
                        <a:t>Application in This Project</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0"/>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Structure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Stores Movie, Customer and Booking Information</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1"/>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Array</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Stores 30 movie records and the array-based waiting queue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2"/>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Queue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Handles customers waiting for sold-out shows (FIFO)</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3"/>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Linear Search</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Finds a movie record by matching Movie ID</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4"/>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Bubble Sort</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Sorts all movies by ticket price in ascending order</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5"/>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Functions</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Divides the program into logical, reusable modules</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6"/>
                  </a:ext>
                </a:extLst>
              </a:tr>
              <a:tr h="422165">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Loops</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Drives menu operations, searching, sorting, and queue processing</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7"/>
                  </a:ext>
                </a:extLst>
              </a:tr>
              <a:tr h="418990">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If-Else</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200" dirty="0">
                          <a:solidFill>
                            <a:srgbClr val="151617"/>
                          </a:solidFill>
                          <a:latin typeface="Inconsolata" pitchFamily="34" charset="0"/>
                          <a:ea typeface="Inconsolata" pitchFamily="34" charset="-122"/>
                          <a:cs typeface="Inconsolata" pitchFamily="34" charset="-120"/>
                        </a:rPr>
                        <a:t>Controls seat availability checks and input validation</a:t>
                      </a:r>
                      <a:endParaRPr lang="en-US" sz="1200" dirty="0">
                        <a:latin typeface="Inconsolata" charset="0"/>
                        <a:ea typeface="Inconsolata" charset="0"/>
                        <a:cs typeface="Inconsolata" charset="0"/>
                      </a:endParaRPr>
                    </a:p>
                  </a:txBody>
                  <a:tcPr marL="152470" marR="152470" marT="6350" marB="6350" anchor="ctr">
                    <a:lnL w="12700" cap="flat" cmpd="sng" algn="ctr">
                      <a:solidFill>
                        <a:srgbClr val="151617"/>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pic>
        <p:nvPicPr>
          <p:cNvPr id="8" name="Picture 7">
            <a:extLst>
              <a:ext uri="{FF2B5EF4-FFF2-40B4-BE49-F238E27FC236}">
                <a16:creationId xmlns:a16="http://schemas.microsoft.com/office/drawing/2014/main" id="{68A8A813-132E-8491-1E86-23B1EE6A5D85}"/>
              </a:ext>
            </a:extLst>
          </p:cNvPr>
          <p:cNvPicPr>
            <a:picLocks noChangeAspect="1"/>
          </p:cNvPicPr>
          <p:nvPr/>
        </p:nvPicPr>
        <p:blipFill>
          <a:blip r:embed="rId3"/>
          <a:stretch>
            <a:fillRect/>
          </a:stretch>
        </p:blipFill>
        <p:spPr>
          <a:xfrm>
            <a:off x="8839490" y="5959177"/>
            <a:ext cx="3273072" cy="8988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63054"/>
            <a:ext cx="10868745" cy="484485"/>
          </a:xfrm>
          <a:prstGeom prst="rect">
            <a:avLst/>
          </a:prstGeom>
          <a:noFill/>
          <a:ln/>
        </p:spPr>
        <p:txBody>
          <a:bodyPr wrap="none" lIns="0" tIns="0" rIns="0" bIns="0" rtlCol="0" anchor="t"/>
          <a:lstStyle/>
          <a:p>
            <a:pPr marL="0" indent="0" algn="l">
              <a:lnSpc>
                <a:spcPct val="104000"/>
              </a:lnSpc>
              <a:buNone/>
            </a:pPr>
            <a:r>
              <a:rPr lang="en-US" sz="3050" dirty="0">
                <a:solidFill>
                  <a:srgbClr val="151617"/>
                </a:solidFill>
                <a:latin typeface="Montserrat Black" pitchFamily="34" charset="0"/>
                <a:ea typeface="Montserrat Black" pitchFamily="34" charset="-122"/>
                <a:cs typeface="Montserrat Black" pitchFamily="34" charset="-120"/>
              </a:rPr>
              <a:t>System Workflow</a:t>
            </a:r>
            <a:endParaRPr lang="en-US" sz="3050" dirty="0"/>
          </a:p>
        </p:txBody>
      </p:sp>
      <p:sp>
        <p:nvSpPr>
          <p:cNvPr id="3" name="Text 1"/>
          <p:cNvSpPr/>
          <p:nvPr/>
        </p:nvSpPr>
        <p:spPr>
          <a:xfrm>
            <a:off x="661475" y="1238250"/>
            <a:ext cx="10868745"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151617"/>
                </a:solidFill>
                <a:latin typeface="Inconsolata" pitchFamily="34" charset="0"/>
                <a:ea typeface="Inconsolata" pitchFamily="34" charset="-122"/>
                <a:cs typeface="Inconsolata" pitchFamily="34" charset="-120"/>
              </a:rPr>
              <a:t>The program runs a continuous menu loop. Users select an operation, the system updates movie or queue data, and control returns to the menu until Exit is chosen.</a:t>
            </a:r>
            <a:endParaRPr lang="en-US" sz="1200" dirty="0"/>
          </a:p>
        </p:txBody>
      </p:sp>
      <p:pic>
        <p:nvPicPr>
          <p:cNvPr id="4" name="Image 0" descr="preencoded.png"/>
          <p:cNvPicPr>
            <a:picLocks noChangeAspect="1"/>
          </p:cNvPicPr>
          <p:nvPr/>
        </p:nvPicPr>
        <p:blipFill>
          <a:blip r:embed="rId3"/>
          <a:stretch>
            <a:fillRect/>
          </a:stretch>
        </p:blipFill>
        <p:spPr>
          <a:xfrm>
            <a:off x="1838081" y="1850628"/>
            <a:ext cx="8515534" cy="3931841"/>
          </a:xfrm>
          <a:prstGeom prst="rect">
            <a:avLst/>
          </a:prstGeom>
        </p:spPr>
      </p:pic>
      <p:sp>
        <p:nvSpPr>
          <p:cNvPr id="5" name="Text 2"/>
          <p:cNvSpPr/>
          <p:nvPr/>
        </p:nvSpPr>
        <p:spPr>
          <a:xfrm>
            <a:off x="8341606" y="4679266"/>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Return or Exit</a:t>
            </a:r>
            <a:endParaRPr lang="en-US" sz="1900" dirty="0"/>
          </a:p>
        </p:txBody>
      </p:sp>
      <p:sp>
        <p:nvSpPr>
          <p:cNvPr id="6" name="Text 3"/>
          <p:cNvSpPr/>
          <p:nvPr/>
        </p:nvSpPr>
        <p:spPr>
          <a:xfrm>
            <a:off x="6341783" y="4679266"/>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Update Data</a:t>
            </a:r>
            <a:endParaRPr lang="en-US" sz="1900" dirty="0"/>
          </a:p>
        </p:txBody>
      </p:sp>
      <p:sp>
        <p:nvSpPr>
          <p:cNvPr id="7" name="Text 4"/>
          <p:cNvSpPr/>
          <p:nvPr/>
        </p:nvSpPr>
        <p:spPr>
          <a:xfrm>
            <a:off x="4352827" y="4679266"/>
            <a:ext cx="1586817" cy="611375"/>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Select Operation</a:t>
            </a:r>
            <a:endParaRPr lang="en-US" sz="1900" dirty="0"/>
          </a:p>
        </p:txBody>
      </p:sp>
      <p:sp>
        <p:nvSpPr>
          <p:cNvPr id="8" name="Text 5"/>
          <p:cNvSpPr/>
          <p:nvPr/>
        </p:nvSpPr>
        <p:spPr>
          <a:xfrm>
            <a:off x="2320397" y="4832110"/>
            <a:ext cx="1586817" cy="305687"/>
          </a:xfrm>
          <a:prstGeom prst="rect">
            <a:avLst/>
          </a:prstGeom>
          <a:noFill/>
          <a:ln/>
        </p:spPr>
        <p:txBody>
          <a:bodyPr wrap="none" lIns="0" tIns="0" rIns="0" bIns="0" rtlCol="0" anchor="t"/>
          <a:lstStyle/>
          <a:p>
            <a:pPr marL="0" indent="0" algn="ctr">
              <a:lnSpc>
                <a:spcPct val="104000"/>
              </a:lnSpc>
              <a:buNone/>
            </a:pPr>
            <a:r>
              <a:rPr lang="en-US" sz="1900" dirty="0">
                <a:solidFill>
                  <a:srgbClr val="151617"/>
                </a:solidFill>
                <a:latin typeface="Montserrat Black" pitchFamily="34" charset="0"/>
                <a:ea typeface="Montserrat Black" pitchFamily="34" charset="-122"/>
                <a:cs typeface="Montserrat Black" pitchFamily="34" charset="-120"/>
              </a:rPr>
              <a:t>Start Menu</a:t>
            </a:r>
            <a:endParaRPr lang="en-US" sz="1900" dirty="0"/>
          </a:p>
        </p:txBody>
      </p:sp>
      <p:sp>
        <p:nvSpPr>
          <p:cNvPr id="9" name="Text 6"/>
          <p:cNvSpPr/>
          <p:nvPr/>
        </p:nvSpPr>
        <p:spPr>
          <a:xfrm>
            <a:off x="661475" y="5914231"/>
            <a:ext cx="10868745"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151617"/>
                </a:solidFill>
                <a:latin typeface="Inconsolata" pitchFamily="34" charset="0"/>
                <a:ea typeface="Inconsolata" pitchFamily="34" charset="-122"/>
                <a:cs typeface="Inconsolata" pitchFamily="34" charset="-120"/>
              </a:rPr>
              <a:t>The booking decision path: when a user selects a movie, the system checks seat availability. If seats are available, the booking proceeds and the seat count decreases. If the show is full, the customer is added to the waiting queue instead.</a:t>
            </a:r>
            <a:endParaRPr lang="en-US" sz="1200" dirty="0"/>
          </a:p>
        </p:txBody>
      </p:sp>
      <p:pic>
        <p:nvPicPr>
          <p:cNvPr id="10" name="Picture 9">
            <a:extLst>
              <a:ext uri="{FF2B5EF4-FFF2-40B4-BE49-F238E27FC236}">
                <a16:creationId xmlns:a16="http://schemas.microsoft.com/office/drawing/2014/main" id="{3E4EB769-50C0-0FDF-0992-F041B5F9FAA3}"/>
              </a:ext>
            </a:extLst>
          </p:cNvPr>
          <p:cNvPicPr>
            <a:picLocks noChangeAspect="1"/>
          </p:cNvPicPr>
          <p:nvPr/>
        </p:nvPicPr>
        <p:blipFill>
          <a:blip r:embed="rId4"/>
          <a:stretch>
            <a:fillRect/>
          </a:stretch>
        </p:blipFill>
        <p:spPr>
          <a:xfrm>
            <a:off x="8995669" y="6365688"/>
            <a:ext cx="3128462" cy="4923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2068"/>
            <a:ext cx="10868745" cy="419894"/>
          </a:xfrm>
          <a:prstGeom prst="rect">
            <a:avLst/>
          </a:prstGeom>
          <a:noFill/>
          <a:ln/>
        </p:spPr>
        <p:txBody>
          <a:bodyPr wrap="none" lIns="0" tIns="0" rIns="0" bIns="0" rtlCol="0" anchor="t"/>
          <a:lstStyle/>
          <a:p>
            <a:pPr marL="0" indent="0" algn="l">
              <a:lnSpc>
                <a:spcPct val="104000"/>
              </a:lnSpc>
              <a:buNone/>
            </a:pPr>
            <a:r>
              <a:rPr lang="en-US" sz="2600" dirty="0">
                <a:solidFill>
                  <a:srgbClr val="151617"/>
                </a:solidFill>
                <a:latin typeface="Montserrat Black" pitchFamily="34" charset="0"/>
                <a:ea typeface="Montserrat Black" pitchFamily="34" charset="-122"/>
                <a:cs typeface="Montserrat Black" pitchFamily="34" charset="-120"/>
              </a:rPr>
              <a:t>Movie Data Structure</a:t>
            </a:r>
            <a:endParaRPr lang="en-US" sz="2600" dirty="0"/>
          </a:p>
        </p:txBody>
      </p:sp>
      <p:sp>
        <p:nvSpPr>
          <p:cNvPr id="3" name="Shape 1"/>
          <p:cNvSpPr/>
          <p:nvPr/>
        </p:nvSpPr>
        <p:spPr>
          <a:xfrm>
            <a:off x="564739" y="1095673"/>
            <a:ext cx="5463939" cy="2982516"/>
          </a:xfrm>
          <a:prstGeom prst="roundRect">
            <a:avLst>
              <a:gd name="adj" fmla="val 255"/>
            </a:avLst>
          </a:prstGeom>
          <a:solidFill>
            <a:srgbClr val="151617"/>
          </a:solidFill>
          <a:ln/>
        </p:spPr>
      </p:sp>
      <p:sp>
        <p:nvSpPr>
          <p:cNvPr id="4" name="Text 2"/>
          <p:cNvSpPr/>
          <p:nvPr/>
        </p:nvSpPr>
        <p:spPr>
          <a:xfrm>
            <a:off x="699078" y="1204813"/>
            <a:ext cx="5195261" cy="209947"/>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Montserrat Black" pitchFamily="34" charset="0"/>
                <a:ea typeface="Montserrat Black" pitchFamily="34" charset="-122"/>
                <a:cs typeface="Montserrat Black" pitchFamily="34" charset="-120"/>
              </a:rPr>
              <a:t>struct Movie — C Definition</a:t>
            </a:r>
            <a:endParaRPr lang="en-US" sz="1300" dirty="0"/>
          </a:p>
        </p:txBody>
      </p:sp>
      <p:sp>
        <p:nvSpPr>
          <p:cNvPr id="5" name="Shape 3"/>
          <p:cNvSpPr/>
          <p:nvPr/>
        </p:nvSpPr>
        <p:spPr>
          <a:xfrm>
            <a:off x="699078" y="1537593"/>
            <a:ext cx="5195261" cy="2417762"/>
          </a:xfrm>
          <a:prstGeom prst="roundRect">
            <a:avLst>
              <a:gd name="adj" fmla="val 315"/>
            </a:avLst>
          </a:prstGeom>
          <a:solidFill>
            <a:srgbClr val="222324"/>
          </a:solidFill>
          <a:ln/>
        </p:spPr>
      </p:sp>
      <p:sp>
        <p:nvSpPr>
          <p:cNvPr id="6" name="Text 4"/>
          <p:cNvSpPr/>
          <p:nvPr/>
        </p:nvSpPr>
        <p:spPr>
          <a:xfrm>
            <a:off x="860304" y="1671935"/>
            <a:ext cx="4872809" cy="2149078"/>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struct Movie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int   id;</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name[50];</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genre[20];</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language[20];</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char  time[15];</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int   seats;</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float price;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6266103" y="1204813"/>
            <a:ext cx="5270467"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Field Descriptions</a:t>
            </a:r>
            <a:endParaRPr lang="en-US" sz="1300" dirty="0"/>
          </a:p>
        </p:txBody>
      </p:sp>
      <p:sp>
        <p:nvSpPr>
          <p:cNvPr id="8" name="Text 6"/>
          <p:cNvSpPr/>
          <p:nvPr/>
        </p:nvSpPr>
        <p:spPr>
          <a:xfrm>
            <a:off x="6266103" y="1523901"/>
            <a:ext cx="5270467" cy="1592560"/>
          </a:xfrm>
          <a:prstGeom prst="rect">
            <a:avLst/>
          </a:prstGeom>
          <a:noFill/>
          <a:ln/>
        </p:spPr>
        <p:txBody>
          <a:bodyPr wrap="square" lIns="0" tIns="0" rIns="0" bIns="0" rtlCol="0" anchor="t">
            <a:normAutofit/>
          </a:bodyPr>
          <a:lstStyle/>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id</a:t>
            </a:r>
            <a:r>
              <a:rPr lang="en-US" sz="1050" dirty="0">
                <a:solidFill>
                  <a:srgbClr val="151617"/>
                </a:solidFill>
                <a:latin typeface="Inconsolata" pitchFamily="34" charset="0"/>
                <a:ea typeface="Inconsolata" pitchFamily="34" charset="-122"/>
                <a:cs typeface="Inconsolata" pitchFamily="34" charset="-120"/>
              </a:rPr>
              <a:t> — Unique Movie ID for lookup</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name</a:t>
            </a:r>
            <a:r>
              <a:rPr lang="en-US" sz="1050" dirty="0">
                <a:solidFill>
                  <a:srgbClr val="151617"/>
                </a:solidFill>
                <a:latin typeface="Inconsolata" pitchFamily="34" charset="0"/>
                <a:ea typeface="Inconsolata" pitchFamily="34" charset="-122"/>
                <a:cs typeface="Inconsolata" pitchFamily="34" charset="-120"/>
              </a:rPr>
              <a:t> — Movie title</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genre</a:t>
            </a:r>
            <a:r>
              <a:rPr lang="en-US" sz="1050" dirty="0">
                <a:solidFill>
                  <a:srgbClr val="151617"/>
                </a:solidFill>
                <a:latin typeface="Inconsolata" pitchFamily="34" charset="0"/>
                <a:ea typeface="Inconsolata" pitchFamily="34" charset="-122"/>
                <a:cs typeface="Inconsolata" pitchFamily="34" charset="-120"/>
              </a:rPr>
              <a:t> — Category (Action, Sci-Fi, etc.)</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language</a:t>
            </a:r>
            <a:r>
              <a:rPr lang="en-US" sz="1050" dirty="0">
                <a:solidFill>
                  <a:srgbClr val="151617"/>
                </a:solidFill>
                <a:latin typeface="Inconsolata" pitchFamily="34" charset="0"/>
                <a:ea typeface="Inconsolata" pitchFamily="34" charset="-122"/>
                <a:cs typeface="Inconsolata" pitchFamily="34" charset="-120"/>
              </a:rPr>
              <a:t> — Audio language</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time</a:t>
            </a:r>
            <a:r>
              <a:rPr lang="en-US" sz="1050" dirty="0">
                <a:solidFill>
                  <a:srgbClr val="151617"/>
                </a:solidFill>
                <a:latin typeface="Inconsolata" pitchFamily="34" charset="0"/>
                <a:ea typeface="Inconsolata" pitchFamily="34" charset="-122"/>
                <a:cs typeface="Inconsolata" pitchFamily="34" charset="-120"/>
              </a:rPr>
              <a:t> — Show timing</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seats</a:t>
            </a:r>
            <a:r>
              <a:rPr lang="en-US" sz="1050" dirty="0">
                <a:solidFill>
                  <a:srgbClr val="151617"/>
                </a:solidFill>
                <a:latin typeface="Inconsolata" pitchFamily="34" charset="0"/>
                <a:ea typeface="Inconsolata" pitchFamily="34" charset="-122"/>
                <a:cs typeface="Inconsolata" pitchFamily="34" charset="-120"/>
              </a:rPr>
              <a:t> — Available seat count</a:t>
            </a:r>
            <a:endParaRPr lang="en-US" sz="1050" dirty="0"/>
          </a:p>
          <a:p>
            <a:pPr marL="213360" indent="-213360" algn="l">
              <a:lnSpc>
                <a:spcPct val="121000"/>
              </a:lnSpc>
              <a:buSzPct val="100000"/>
              <a:buChar char="•"/>
            </a:pPr>
            <a:r>
              <a:rPr lang="en-US" sz="1050" b="1" dirty="0">
                <a:solidFill>
                  <a:srgbClr val="151617"/>
                </a:solidFill>
                <a:latin typeface="Inconsolata Bold" pitchFamily="34" charset="0"/>
                <a:ea typeface="Inconsolata Bold" pitchFamily="34" charset="-122"/>
                <a:cs typeface="Inconsolata Bold" pitchFamily="34" charset="-120"/>
              </a:rPr>
              <a:t>price</a:t>
            </a:r>
            <a:r>
              <a:rPr lang="en-US" sz="1050" dirty="0">
                <a:solidFill>
                  <a:srgbClr val="151617"/>
                </a:solidFill>
                <a:latin typeface="Inconsolata" pitchFamily="34" charset="0"/>
                <a:ea typeface="Inconsolata" pitchFamily="34" charset="-122"/>
                <a:cs typeface="Inconsolata" pitchFamily="34" charset="-120"/>
              </a:rPr>
              <a:t> — Ticket price in rupees</a:t>
            </a:r>
            <a:endParaRPr lang="en-US" sz="1050" dirty="0"/>
          </a:p>
        </p:txBody>
      </p:sp>
      <p:sp>
        <p:nvSpPr>
          <p:cNvPr id="9" name="Text 7"/>
          <p:cNvSpPr/>
          <p:nvPr/>
        </p:nvSpPr>
        <p:spPr>
          <a:xfrm>
            <a:off x="661475" y="4241899"/>
            <a:ext cx="10868745"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Sample Movie Records (30 Predefined)</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4615557"/>
          <a:ext cx="10868744" cy="1717535"/>
        </p:xfrm>
        <a:graphic>
          <a:graphicData uri="http://schemas.openxmlformats.org/drawingml/2006/table">
            <a:tbl>
              <a:tblPr/>
              <a:tblGrid>
                <a:gridCol w="869500">
                  <a:extLst>
                    <a:ext uri="{9D8B030D-6E8A-4147-A177-3AD203B41FA5}">
                      <a16:colId xmlns:a16="http://schemas.microsoft.com/office/drawing/2014/main" val="20000"/>
                    </a:ext>
                  </a:extLst>
                </a:gridCol>
                <a:gridCol w="2391124">
                  <a:extLst>
                    <a:ext uri="{9D8B030D-6E8A-4147-A177-3AD203B41FA5}">
                      <a16:colId xmlns:a16="http://schemas.microsoft.com/office/drawing/2014/main" val="20001"/>
                    </a:ext>
                  </a:extLst>
                </a:gridCol>
                <a:gridCol w="1304249">
                  <a:extLst>
                    <a:ext uri="{9D8B030D-6E8A-4147-A177-3AD203B41FA5}">
                      <a16:colId xmlns:a16="http://schemas.microsoft.com/office/drawing/2014/main" val="20002"/>
                    </a:ext>
                  </a:extLst>
                </a:gridCol>
                <a:gridCol w="1304249">
                  <a:extLst>
                    <a:ext uri="{9D8B030D-6E8A-4147-A177-3AD203B41FA5}">
                      <a16:colId xmlns:a16="http://schemas.microsoft.com/office/drawing/2014/main" val="20003"/>
                    </a:ext>
                  </a:extLst>
                </a:gridCol>
                <a:gridCol w="1521624">
                  <a:extLst>
                    <a:ext uri="{9D8B030D-6E8A-4147-A177-3AD203B41FA5}">
                      <a16:colId xmlns:a16="http://schemas.microsoft.com/office/drawing/2014/main" val="20004"/>
                    </a:ext>
                  </a:extLst>
                </a:gridCol>
                <a:gridCol w="1738999">
                  <a:extLst>
                    <a:ext uri="{9D8B030D-6E8A-4147-A177-3AD203B41FA5}">
                      <a16:colId xmlns:a16="http://schemas.microsoft.com/office/drawing/2014/main" val="20005"/>
                    </a:ext>
                  </a:extLst>
                </a:gridCol>
                <a:gridCol w="1738999">
                  <a:extLst>
                    <a:ext uri="{9D8B030D-6E8A-4147-A177-3AD203B41FA5}">
                      <a16:colId xmlns:a16="http://schemas.microsoft.com/office/drawing/2014/main" val="20006"/>
                    </a:ext>
                  </a:extLst>
                </a:gridCol>
              </a:tblGrid>
              <a:tr h="341602">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ID</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Movie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Genre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Language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Time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Seats</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b="1" dirty="0">
                          <a:solidFill>
                            <a:srgbClr val="151617"/>
                          </a:solidFill>
                          <a:latin typeface="Inconsolata" pitchFamily="34" charset="0"/>
                          <a:ea typeface="Inconsolata" pitchFamily="34" charset="-122"/>
                          <a:cs typeface="Inconsolata" pitchFamily="34" charset="-120"/>
                        </a:rPr>
                        <a:t>Price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0"/>
                  </a:ext>
                </a:extLst>
              </a:tr>
              <a:tr h="344777">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101</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Avengers Endgame</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Action</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10:00 AM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120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₹250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1"/>
                  </a:ext>
                </a:extLst>
              </a:tr>
              <a:tr h="344777">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104</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Interstellar</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Sci-Fi</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2:30 PM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45</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₹300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2"/>
                  </a:ext>
                </a:extLst>
              </a:tr>
              <a:tr h="344777">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108</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Inception</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Sci-Fi</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8:00 PM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35</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₹280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3"/>
                  </a:ext>
                </a:extLst>
              </a:tr>
              <a:tr h="341602">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118</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151617"/>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Avatar</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Sci-Fi</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English</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9:00 PM</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F8ECE4"/>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tc>
                  <a:txBody>
                    <a:bodyPr/>
                    <a:lstStyle/>
                    <a:p>
                      <a:pPr marL="0" indent="0" algn="l">
                        <a:buNone/>
                      </a:pPr>
                      <a:r>
                        <a:rPr lang="en-US" sz="1050" dirty="0">
                          <a:solidFill>
                            <a:srgbClr val="151617"/>
                          </a:solidFill>
                          <a:latin typeface="Inconsolata" pitchFamily="34" charset="0"/>
                          <a:ea typeface="Inconsolata" pitchFamily="34" charset="-122"/>
                          <a:cs typeface="Inconsolata" pitchFamily="34" charset="-120"/>
                        </a:rPr>
                        <a:t>₹350</a:t>
                      </a:r>
                      <a:endParaRPr lang="en-US" sz="1050" dirty="0">
                        <a:latin typeface="Inconsolata" charset="0"/>
                        <a:ea typeface="Inconsolata" charset="0"/>
                        <a:cs typeface="Inconsolata" charset="0"/>
                      </a:endParaRPr>
                    </a:p>
                  </a:txBody>
                  <a:tcPr marL="134380" marR="134380" marT="6350" marB="6350" anchor="ctr">
                    <a:lnL w="12700" cap="flat" cmpd="sng" algn="ctr">
                      <a:solidFill>
                        <a:srgbClr val="F8ECE4"/>
                      </a:solidFill>
                      <a:prstDash val="solid"/>
                      <a:round/>
                      <a:headEnd type="none" w="med" len="med"/>
                      <a:tailEnd type="none" w="med" len="med"/>
                    </a:lnL>
                    <a:lnR w="12700" cap="flat" cmpd="sng" algn="ctr">
                      <a:solidFill>
                        <a:srgbClr val="151617"/>
                      </a:solidFill>
                      <a:prstDash val="solid"/>
                      <a:round/>
                      <a:headEnd type="none" w="med" len="med"/>
                      <a:tailEnd type="none" w="med" len="med"/>
                    </a:lnR>
                    <a:lnT w="12700" cap="flat" cmpd="sng" algn="ctr">
                      <a:solidFill>
                        <a:srgbClr val="151617"/>
                      </a:solidFill>
                      <a:prstDash val="solid"/>
                      <a:round/>
                      <a:headEnd type="none" w="med" len="med"/>
                      <a:tailEnd type="none" w="med" len="med"/>
                    </a:lnT>
                    <a:lnB w="12700" cap="flat" cmpd="sng" algn="ctr">
                      <a:solidFill>
                        <a:srgbClr val="15161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1" name="Picture 10">
            <a:extLst>
              <a:ext uri="{FF2B5EF4-FFF2-40B4-BE49-F238E27FC236}">
                <a16:creationId xmlns:a16="http://schemas.microsoft.com/office/drawing/2014/main" id="{0E613AB3-FB43-A128-52A5-D6E16C98E86E}"/>
              </a:ext>
            </a:extLst>
          </p:cNvPr>
          <p:cNvPicPr>
            <a:picLocks noChangeAspect="1"/>
          </p:cNvPicPr>
          <p:nvPr/>
        </p:nvPicPr>
        <p:blipFill>
          <a:blip r:embed="rId3"/>
          <a:stretch>
            <a:fillRect/>
          </a:stretch>
        </p:blipFill>
        <p:spPr>
          <a:xfrm>
            <a:off x="6677025" y="6413301"/>
            <a:ext cx="5514975" cy="4446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4" y="533710"/>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1617"/>
                </a:solidFill>
                <a:latin typeface="Montserrat Black" pitchFamily="34" charset="0"/>
                <a:ea typeface="Montserrat Black" pitchFamily="34" charset="-122"/>
                <a:cs typeface="Montserrat Black" pitchFamily="34" charset="-120"/>
              </a:rPr>
              <a:t>Ticket Booking &amp; Cancellation</a:t>
            </a:r>
            <a:endParaRPr lang="en-US" sz="3250" dirty="0"/>
          </a:p>
        </p:txBody>
      </p:sp>
      <p:sp>
        <p:nvSpPr>
          <p:cNvPr id="3" name="Text 1"/>
          <p:cNvSpPr/>
          <p:nvPr/>
        </p:nvSpPr>
        <p:spPr>
          <a:xfrm>
            <a:off x="661475" y="1246405"/>
            <a:ext cx="10868745" cy="258465"/>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Booking Flow                                                                                Cancellation Flow</a:t>
            </a:r>
            <a:endParaRPr lang="en-US" sz="1600" dirty="0"/>
          </a:p>
        </p:txBody>
      </p:sp>
      <p:sp>
        <p:nvSpPr>
          <p:cNvPr id="4" name="Shape 2"/>
          <p:cNvSpPr/>
          <p:nvPr/>
        </p:nvSpPr>
        <p:spPr>
          <a:xfrm>
            <a:off x="661473" y="1700833"/>
            <a:ext cx="4203825" cy="4606785"/>
          </a:xfrm>
          <a:prstGeom prst="roundRect">
            <a:avLst>
              <a:gd name="adj" fmla="val 397"/>
            </a:avLst>
          </a:prstGeom>
          <a:solidFill>
            <a:srgbClr val="EBDFD7"/>
          </a:solidFill>
          <a:ln/>
        </p:spPr>
      </p:sp>
      <p:sp>
        <p:nvSpPr>
          <p:cNvPr id="5" name="Text 3"/>
          <p:cNvSpPr/>
          <p:nvPr/>
        </p:nvSpPr>
        <p:spPr>
          <a:xfrm>
            <a:off x="859905" y="1799291"/>
            <a:ext cx="10471880" cy="1587698"/>
          </a:xfrm>
          <a:prstGeom prst="rect">
            <a:avLst/>
          </a:prstGeom>
          <a:noFill/>
          <a:ln/>
        </p:spPr>
        <p:txBody>
          <a:bodyPr wrap="square" lIns="0" tIns="0" rIns="0" bIns="0" rtlCol="0" anchor="t">
            <a:noAutofit/>
          </a:bodyPr>
          <a:lstStyle/>
          <a:p>
            <a:pPr>
              <a:lnSpc>
                <a:spcPct val="133000"/>
              </a:lnSpc>
            </a:pPr>
            <a:r>
              <a:rPr lang="en-US" sz="1200" dirty="0">
                <a:solidFill>
                  <a:srgbClr val="24292E"/>
                </a:solidFill>
                <a:latin typeface="Consolas" pitchFamily="34" charset="0"/>
                <a:ea typeface="Consolas" pitchFamily="34" charset="-122"/>
                <a:cs typeface="Consolas" pitchFamily="34" charset="-120"/>
              </a:rPr>
              <a:t>Enter Customer Name</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Enter Movie ID</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Linear Search</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Movie Found?</a:t>
            </a:r>
          </a:p>
          <a:p>
            <a:pPr>
              <a:lnSpc>
                <a:spcPct val="133000"/>
              </a:lnSpc>
            </a:pPr>
            <a:r>
              <a:rPr lang="en-US" sz="1200" dirty="0">
                <a:solidFill>
                  <a:srgbClr val="24292E"/>
                </a:solidFill>
                <a:latin typeface="Consolas" pitchFamily="34" charset="0"/>
                <a:ea typeface="Consolas" pitchFamily="34" charset="-122"/>
                <a:cs typeface="Consolas" pitchFamily="34" charset="-120"/>
              </a:rPr>
              <a:t>        ↓</a:t>
            </a:r>
          </a:p>
          <a:p>
            <a:pPr>
              <a:lnSpc>
                <a:spcPct val="133000"/>
              </a:lnSpc>
            </a:pPr>
            <a:r>
              <a:rPr lang="en-US" sz="1200" dirty="0">
                <a:solidFill>
                  <a:srgbClr val="24292E"/>
                </a:solidFill>
                <a:latin typeface="Consolas" pitchFamily="34" charset="0"/>
                <a:ea typeface="Consolas" pitchFamily="34" charset="-122"/>
                <a:cs typeface="Consolas" pitchFamily="34" charset="-120"/>
              </a:rPr>
              <a:t>Check Seats</a:t>
            </a:r>
          </a:p>
          <a:p>
            <a:pPr>
              <a:lnSpc>
                <a:spcPct val="133000"/>
              </a:lnSpc>
            </a:pPr>
            <a:r>
              <a:rPr lang="en-US" sz="1200" dirty="0">
                <a:solidFill>
                  <a:srgbClr val="24292E"/>
                </a:solidFill>
                <a:latin typeface="Consolas" pitchFamily="34" charset="0"/>
                <a:ea typeface="Consolas" pitchFamily="34" charset="-122"/>
                <a:cs typeface="Consolas" pitchFamily="34" charset="-120"/>
              </a:rPr>
              <a:t>    /          \</a:t>
            </a:r>
          </a:p>
          <a:p>
            <a:pPr>
              <a:lnSpc>
                <a:spcPct val="133000"/>
              </a:lnSpc>
            </a:pPr>
            <a:r>
              <a:rPr lang="en-US" sz="1200" dirty="0">
                <a:solidFill>
                  <a:srgbClr val="24292E"/>
                </a:solidFill>
                <a:latin typeface="Consolas" pitchFamily="34" charset="0"/>
                <a:ea typeface="Consolas" pitchFamily="34" charset="-122"/>
                <a:cs typeface="Consolas" pitchFamily="34" charset="-120"/>
              </a:rPr>
              <a:t>Seats &gt; 0      Seats = 0</a:t>
            </a:r>
          </a:p>
          <a:p>
            <a:pPr>
              <a:lnSpc>
                <a:spcPct val="133000"/>
              </a:lnSpc>
            </a:pPr>
            <a:r>
              <a:rPr lang="en-US" sz="1200" dirty="0">
                <a:solidFill>
                  <a:srgbClr val="24292E"/>
                </a:solidFill>
                <a:latin typeface="Consolas" pitchFamily="34" charset="0"/>
                <a:ea typeface="Consolas" pitchFamily="34" charset="-122"/>
                <a:cs typeface="Consolas" pitchFamily="34" charset="-120"/>
              </a:rPr>
              <a:t>   ↓              ↓</a:t>
            </a:r>
          </a:p>
          <a:p>
            <a:pPr>
              <a:lnSpc>
                <a:spcPct val="133000"/>
              </a:lnSpc>
            </a:pPr>
            <a:r>
              <a:rPr lang="en-US" sz="1200" dirty="0">
                <a:solidFill>
                  <a:srgbClr val="24292E"/>
                </a:solidFill>
                <a:latin typeface="Consolas" pitchFamily="34" charset="0"/>
                <a:ea typeface="Consolas" pitchFamily="34" charset="-122"/>
                <a:cs typeface="Consolas" pitchFamily="34" charset="-120"/>
              </a:rPr>
              <a:t>Book Ticket     Ask to join</a:t>
            </a:r>
          </a:p>
          <a:p>
            <a:pPr>
              <a:lnSpc>
                <a:spcPct val="133000"/>
              </a:lnSpc>
            </a:pPr>
            <a:r>
              <a:rPr lang="en-US" sz="1200" dirty="0">
                <a:solidFill>
                  <a:srgbClr val="24292E"/>
                </a:solidFill>
                <a:latin typeface="Consolas" pitchFamily="34" charset="0"/>
                <a:ea typeface="Consolas" pitchFamily="34" charset="-122"/>
                <a:cs typeface="Consolas" pitchFamily="34" charset="-120"/>
              </a:rPr>
              <a:t>   ↓             Queue</a:t>
            </a:r>
          </a:p>
          <a:p>
            <a:pPr>
              <a:lnSpc>
                <a:spcPct val="133000"/>
              </a:lnSpc>
            </a:pPr>
            <a:r>
              <a:rPr lang="en-US" sz="1200" dirty="0">
                <a:solidFill>
                  <a:srgbClr val="24292E"/>
                </a:solidFill>
                <a:latin typeface="Consolas" pitchFamily="34" charset="0"/>
                <a:ea typeface="Consolas" pitchFamily="34" charset="-122"/>
                <a:cs typeface="Consolas" pitchFamily="34" charset="-120"/>
              </a:rPr>
              <a:t>Seats--</a:t>
            </a:r>
            <a:endParaRPr lang="en-US" sz="1200" dirty="0"/>
          </a:p>
        </p:txBody>
      </p:sp>
      <p:pic>
        <p:nvPicPr>
          <p:cNvPr id="6" name="Picture 5">
            <a:extLst>
              <a:ext uri="{FF2B5EF4-FFF2-40B4-BE49-F238E27FC236}">
                <a16:creationId xmlns:a16="http://schemas.microsoft.com/office/drawing/2014/main" id="{5F2B0D87-F37F-B833-A5D2-83A4673C5388}"/>
              </a:ext>
            </a:extLst>
          </p:cNvPr>
          <p:cNvPicPr>
            <a:picLocks noChangeAspect="1"/>
          </p:cNvPicPr>
          <p:nvPr/>
        </p:nvPicPr>
        <p:blipFill>
          <a:blip r:embed="rId3"/>
          <a:stretch>
            <a:fillRect/>
          </a:stretch>
        </p:blipFill>
        <p:spPr>
          <a:xfrm>
            <a:off x="8608113" y="5853190"/>
            <a:ext cx="3504449" cy="962362"/>
          </a:xfrm>
          <a:prstGeom prst="rect">
            <a:avLst/>
          </a:prstGeom>
        </p:spPr>
      </p:pic>
      <p:sp>
        <p:nvSpPr>
          <p:cNvPr id="12" name="Shape 2">
            <a:extLst>
              <a:ext uri="{FF2B5EF4-FFF2-40B4-BE49-F238E27FC236}">
                <a16:creationId xmlns:a16="http://schemas.microsoft.com/office/drawing/2014/main" id="{4A3B8AFF-F6C9-0666-3172-6892EA67E304}"/>
              </a:ext>
            </a:extLst>
          </p:cNvPr>
          <p:cNvSpPr/>
          <p:nvPr/>
        </p:nvSpPr>
        <p:spPr>
          <a:xfrm>
            <a:off x="6909816" y="1700832"/>
            <a:ext cx="4203825" cy="4606785"/>
          </a:xfrm>
          <a:prstGeom prst="roundRect">
            <a:avLst>
              <a:gd name="adj" fmla="val 397"/>
            </a:avLst>
          </a:prstGeom>
          <a:solidFill>
            <a:srgbClr val="EBDFD7"/>
          </a:solidFill>
          <a:ln/>
        </p:spPr>
      </p:sp>
      <p:sp>
        <p:nvSpPr>
          <p:cNvPr id="13" name="TextBox 12">
            <a:extLst>
              <a:ext uri="{FF2B5EF4-FFF2-40B4-BE49-F238E27FC236}">
                <a16:creationId xmlns:a16="http://schemas.microsoft.com/office/drawing/2014/main" id="{6758EF52-06CB-5271-01AA-B6037A2DC8E0}"/>
              </a:ext>
            </a:extLst>
          </p:cNvPr>
          <p:cNvSpPr txBox="1"/>
          <p:nvPr/>
        </p:nvSpPr>
        <p:spPr>
          <a:xfrm>
            <a:off x="7297947" y="1958196"/>
            <a:ext cx="2863970" cy="3108543"/>
          </a:xfrm>
          <a:prstGeom prst="rect">
            <a:avLst/>
          </a:prstGeom>
          <a:noFill/>
        </p:spPr>
        <p:txBody>
          <a:bodyPr wrap="square" rtlCol="0">
            <a:spAutoFit/>
          </a:bodyPr>
          <a:lstStyle/>
          <a:p>
            <a:r>
              <a:rPr lang="en-US" sz="1400" dirty="0">
                <a:latin typeface="Inconsolata" pitchFamily="1" charset="0"/>
                <a:ea typeface="Inconsolata" pitchFamily="1" charset="0"/>
              </a:rPr>
              <a:t>Enter Booking ID</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Search booking</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Booking found?</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Cancel booking</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Seat++</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Check waiting queue</a:t>
            </a:r>
          </a:p>
          <a:p>
            <a:r>
              <a:rPr lang="en-US" sz="1400" dirty="0">
                <a:latin typeface="Inconsolata" pitchFamily="1" charset="0"/>
                <a:ea typeface="Inconsolata" pitchFamily="1" charset="0"/>
              </a:rPr>
              <a:t>       ↓</a:t>
            </a:r>
          </a:p>
          <a:p>
            <a:r>
              <a:rPr lang="en-US" sz="1400" dirty="0">
                <a:latin typeface="Inconsolata" pitchFamily="1" charset="0"/>
                <a:ea typeface="Inconsolata" pitchFamily="1" charset="0"/>
              </a:rPr>
              <a:t>Assign seat to waiting customer</a:t>
            </a:r>
            <a:endParaRPr lang="en-IN" sz="1400" dirty="0">
              <a:latin typeface="Inconsolata" pitchFamily="1" charset="0"/>
              <a:ea typeface="Inconsolata" pitchFamily="1"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60363"/>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51617"/>
                </a:solidFill>
                <a:latin typeface="Montserrat Black" pitchFamily="34" charset="0"/>
                <a:ea typeface="Montserrat Black" pitchFamily="34" charset="-122"/>
                <a:cs typeface="Montserrat Black" pitchFamily="34" charset="-120"/>
              </a:rPr>
              <a:t>Waiting Queue — FIFO</a:t>
            </a:r>
            <a:endParaRPr lang="en-US" sz="3250" dirty="0"/>
          </a:p>
        </p:txBody>
      </p:sp>
      <p:sp>
        <p:nvSpPr>
          <p:cNvPr id="3" name="Text 1"/>
          <p:cNvSpPr/>
          <p:nvPr/>
        </p:nvSpPr>
        <p:spPr>
          <a:xfrm>
            <a:off x="661475" y="2007791"/>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151617"/>
                </a:solidFill>
                <a:latin typeface="Inconsolata" pitchFamily="34" charset="0"/>
                <a:ea typeface="Inconsolata" pitchFamily="34" charset="-122"/>
                <a:cs typeface="Inconsolata" pitchFamily="34" charset="-120"/>
              </a:rPr>
              <a:t>When a movie has no available seats, the customer joins a waiting queue. When a seat is freed via cancellation, the customer at the </a:t>
            </a:r>
            <a:r>
              <a:rPr lang="en-US" sz="1300" b="1" dirty="0">
                <a:solidFill>
                  <a:srgbClr val="151617"/>
                </a:solidFill>
                <a:latin typeface="Inconsolata Bold" pitchFamily="34" charset="0"/>
                <a:ea typeface="Inconsolata Bold" pitchFamily="34" charset="-122"/>
                <a:cs typeface="Inconsolata Bold" pitchFamily="34" charset="-120"/>
              </a:rPr>
              <a:t>front</a:t>
            </a:r>
            <a:r>
              <a:rPr lang="en-US" sz="1300" dirty="0">
                <a:solidFill>
                  <a:srgbClr val="151617"/>
                </a:solidFill>
                <a:latin typeface="Inconsolata" pitchFamily="34" charset="0"/>
                <a:ea typeface="Inconsolata" pitchFamily="34" charset="-122"/>
                <a:cs typeface="Inconsolata" pitchFamily="34" charset="-120"/>
              </a:rPr>
              <a:t> is assigned the seat automatically.</a:t>
            </a:r>
            <a:endParaRPr lang="en-US" sz="1300" dirty="0"/>
          </a:p>
        </p:txBody>
      </p:sp>
      <p:sp>
        <p:nvSpPr>
          <p:cNvPr id="4" name="Text 2"/>
          <p:cNvSpPr/>
          <p:nvPr/>
        </p:nvSpPr>
        <p:spPr>
          <a:xfrm>
            <a:off x="356682" y="2723059"/>
            <a:ext cx="11478330" cy="264616"/>
          </a:xfrm>
          <a:prstGeom prst="rect">
            <a:avLst/>
          </a:prstGeom>
          <a:noFill/>
          <a:ln/>
        </p:spPr>
        <p:txBody>
          <a:bodyPr wrap="none" lIns="0" tIns="0" rIns="0" bIns="0" rtlCol="0" anchor="t"/>
          <a:lstStyle/>
          <a:p>
            <a:pPr marL="0" indent="0" algn="ctr">
              <a:lnSpc>
                <a:spcPct val="133000"/>
              </a:lnSpc>
              <a:buNone/>
            </a:pPr>
            <a:r>
              <a:rPr lang="en-US" sz="1300" b="1" dirty="0">
                <a:solidFill>
                  <a:srgbClr val="151617"/>
                </a:solidFill>
                <a:latin typeface="Inconsolata Bold" pitchFamily="34" charset="0"/>
                <a:ea typeface="Inconsolata Bold" pitchFamily="34" charset="-122"/>
                <a:cs typeface="Inconsolata Bold" pitchFamily="34" charset="-120"/>
              </a:rPr>
              <a:t>Front: Rahul</a:t>
            </a:r>
            <a:r>
              <a:rPr lang="en-US" sz="1300" dirty="0">
                <a:solidFill>
                  <a:srgbClr val="151617"/>
                </a:solidFill>
                <a:latin typeface="Inconsolata" pitchFamily="34" charset="0"/>
                <a:ea typeface="Inconsolata" pitchFamily="34" charset="-122"/>
                <a:cs typeface="Inconsolata" pitchFamily="34" charset="-120"/>
              </a:rPr>
              <a:t> → </a:t>
            </a:r>
            <a:r>
              <a:rPr lang="en-US" sz="1300" b="1" dirty="0">
                <a:solidFill>
                  <a:srgbClr val="151617"/>
                </a:solidFill>
                <a:latin typeface="Inconsolata Bold" pitchFamily="34" charset="0"/>
                <a:ea typeface="Inconsolata Bold" pitchFamily="34" charset="-122"/>
                <a:cs typeface="Inconsolata Bold" pitchFamily="34" charset="-120"/>
              </a:rPr>
              <a:t>Priya</a:t>
            </a:r>
            <a:r>
              <a:rPr lang="en-US" sz="1300" dirty="0">
                <a:solidFill>
                  <a:srgbClr val="151617"/>
                </a:solidFill>
                <a:latin typeface="Inconsolata" pitchFamily="34" charset="0"/>
                <a:ea typeface="Inconsolata" pitchFamily="34" charset="-122"/>
                <a:cs typeface="Inconsolata" pitchFamily="34" charset="-120"/>
              </a:rPr>
              <a:t> → </a:t>
            </a:r>
            <a:r>
              <a:rPr lang="en-US" sz="1300" b="1" dirty="0">
                <a:solidFill>
                  <a:srgbClr val="151617"/>
                </a:solidFill>
                <a:latin typeface="Inconsolata Bold" pitchFamily="34" charset="0"/>
                <a:ea typeface="Inconsolata Bold" pitchFamily="34" charset="-122"/>
                <a:cs typeface="Inconsolata Bold" pitchFamily="34" charset="-120"/>
              </a:rPr>
              <a:t>Aman</a:t>
            </a:r>
            <a:r>
              <a:rPr lang="en-US" sz="1300" dirty="0">
                <a:solidFill>
                  <a:srgbClr val="151617"/>
                </a:solidFill>
                <a:latin typeface="Inconsolata" pitchFamily="34" charset="0"/>
                <a:ea typeface="Inconsolata" pitchFamily="34" charset="-122"/>
                <a:cs typeface="Inconsolata" pitchFamily="34" charset="-120"/>
              </a:rPr>
              <a:t> → </a:t>
            </a:r>
            <a:r>
              <a:rPr lang="en-US" sz="1300" b="1" dirty="0">
                <a:solidFill>
                  <a:srgbClr val="151617"/>
                </a:solidFill>
                <a:latin typeface="Inconsolata Bold" pitchFamily="34" charset="0"/>
                <a:ea typeface="Inconsolata Bold" pitchFamily="34" charset="-122"/>
                <a:cs typeface="Inconsolata Bold" pitchFamily="34" charset="-120"/>
              </a:rPr>
              <a:t>Rear: Riya</a:t>
            </a:r>
            <a:endParaRPr lang="en-US" sz="1300" dirty="0"/>
          </a:p>
        </p:txBody>
      </p:sp>
      <p:sp>
        <p:nvSpPr>
          <p:cNvPr id="5" name="Shape 3"/>
          <p:cNvSpPr/>
          <p:nvPr/>
        </p:nvSpPr>
        <p:spPr>
          <a:xfrm>
            <a:off x="542415" y="3173710"/>
            <a:ext cx="5470785" cy="2523827"/>
          </a:xfrm>
          <a:prstGeom prst="roundRect">
            <a:avLst>
              <a:gd name="adj" fmla="val 302"/>
            </a:avLst>
          </a:prstGeom>
          <a:solidFill>
            <a:srgbClr val="151617"/>
          </a:solidFill>
          <a:ln/>
        </p:spPr>
      </p:sp>
      <p:sp>
        <p:nvSpPr>
          <p:cNvPr id="6" name="Text 4"/>
          <p:cNvSpPr/>
          <p:nvPr/>
        </p:nvSpPr>
        <p:spPr>
          <a:xfrm>
            <a:off x="707710" y="3339009"/>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Montserrat Black" pitchFamily="34" charset="0"/>
                <a:ea typeface="Montserrat Black" pitchFamily="34" charset="-122"/>
                <a:cs typeface="Montserrat Black" pitchFamily="34" charset="-120"/>
              </a:rPr>
              <a:t>struct Customer</a:t>
            </a:r>
            <a:endParaRPr lang="en-US" sz="1600" dirty="0"/>
          </a:p>
        </p:txBody>
      </p:sp>
      <p:sp>
        <p:nvSpPr>
          <p:cNvPr id="7" name="Shape 5"/>
          <p:cNvSpPr/>
          <p:nvPr/>
        </p:nvSpPr>
        <p:spPr>
          <a:xfrm>
            <a:off x="707710" y="3783509"/>
            <a:ext cx="5140196" cy="1653679"/>
          </a:xfrm>
          <a:prstGeom prst="roundRect">
            <a:avLst>
              <a:gd name="adj" fmla="val 461"/>
            </a:avLst>
          </a:prstGeom>
          <a:solidFill>
            <a:srgbClr val="222324"/>
          </a:solidFill>
          <a:ln/>
        </p:spPr>
      </p:sp>
      <p:sp>
        <p:nvSpPr>
          <p:cNvPr id="8" name="Text 6"/>
          <p:cNvSpPr/>
          <p:nvPr/>
        </p:nvSpPr>
        <p:spPr>
          <a:xfrm>
            <a:off x="906142" y="3948807"/>
            <a:ext cx="4743331"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struct Customer</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    char name[50];</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    int  movieID;</a:t>
            </a:r>
            <a:endParaRPr lang="en-US" sz="1300" dirty="0"/>
          </a:p>
          <a:p>
            <a:pPr marL="0" indent="0" algn="l">
              <a:lnSpc>
                <a:spcPct val="133000"/>
              </a:lnSpc>
              <a:buNone/>
            </a:pPr>
            <a:r>
              <a:rPr lang="en-US" sz="1300" dirty="0">
                <a:solidFill>
                  <a:srgbClr val="FF7B72"/>
                </a:solidFill>
                <a:latin typeface="Consolas" pitchFamily="34" charset="0"/>
                <a:ea typeface="Consolas" pitchFamily="34" charset="-122"/>
                <a:cs typeface="Consolas" pitchFamily="34" charset="-120"/>
              </a:rPr>
              <a:t>};</a:t>
            </a:r>
            <a:endParaRPr lang="en-US" sz="1300" dirty="0"/>
          </a:p>
        </p:txBody>
      </p:sp>
      <p:sp>
        <p:nvSpPr>
          <p:cNvPr id="9" name="Text 7"/>
          <p:cNvSpPr/>
          <p:nvPr/>
        </p:nvSpPr>
        <p:spPr>
          <a:xfrm>
            <a:off x="6303904" y="3339009"/>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51617"/>
                </a:solidFill>
                <a:latin typeface="Montserrat Black" pitchFamily="34" charset="0"/>
                <a:ea typeface="Montserrat Black" pitchFamily="34" charset="-122"/>
                <a:cs typeface="Montserrat Black" pitchFamily="34" charset="-120"/>
              </a:rPr>
              <a:t>Queue Operations</a:t>
            </a:r>
            <a:endParaRPr lang="en-US" sz="1600" dirty="0"/>
          </a:p>
        </p:txBody>
      </p:sp>
      <p:sp>
        <p:nvSpPr>
          <p:cNvPr id="10" name="Text 8"/>
          <p:cNvSpPr/>
          <p:nvPr/>
        </p:nvSpPr>
        <p:spPr>
          <a:xfrm>
            <a:off x="6303904" y="3762772"/>
            <a:ext cx="5232666" cy="1876921"/>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Enqueue</a:t>
            </a:r>
            <a:r>
              <a:rPr lang="en-US" sz="1300" dirty="0">
                <a:solidFill>
                  <a:srgbClr val="151617"/>
                </a:solidFill>
                <a:latin typeface="Inconsolata" pitchFamily="34" charset="0"/>
                <a:ea typeface="Inconsolata" pitchFamily="34" charset="-122"/>
                <a:cs typeface="Inconsolata" pitchFamily="34" charset="-120"/>
              </a:rPr>
              <a:t> — Add customer at rear</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Dequeue</a:t>
            </a:r>
            <a:r>
              <a:rPr lang="en-US" sz="1300" dirty="0">
                <a:solidFill>
                  <a:srgbClr val="151617"/>
                </a:solidFill>
                <a:latin typeface="Inconsolata" pitchFamily="34" charset="0"/>
                <a:ea typeface="Inconsolata" pitchFamily="34" charset="-122"/>
                <a:cs typeface="Inconsolata" pitchFamily="34" charset="-120"/>
              </a:rPr>
              <a:t> — Remove from front</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front</a:t>
            </a:r>
            <a:r>
              <a:rPr lang="en-US" sz="1300" dirty="0">
                <a:solidFill>
                  <a:srgbClr val="151617"/>
                </a:solidFill>
                <a:latin typeface="Inconsolata" pitchFamily="34" charset="0"/>
                <a:ea typeface="Inconsolata" pitchFamily="34" charset="-122"/>
                <a:cs typeface="Inconsolata" pitchFamily="34" charset="-120"/>
              </a:rPr>
              <a:t> — Index of first customer</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rear</a:t>
            </a:r>
            <a:r>
              <a:rPr lang="en-US" sz="1300" dirty="0">
                <a:solidFill>
                  <a:srgbClr val="151617"/>
                </a:solidFill>
                <a:latin typeface="Inconsolata" pitchFamily="34" charset="0"/>
                <a:ea typeface="Inconsolata" pitchFamily="34" charset="-122"/>
                <a:cs typeface="Inconsolata" pitchFamily="34" charset="-120"/>
              </a:rPr>
              <a:t> — Index of last customer</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Max capacity:</a:t>
            </a:r>
            <a:r>
              <a:rPr lang="en-US" sz="1300" dirty="0">
                <a:solidFill>
                  <a:srgbClr val="151617"/>
                </a:solidFill>
                <a:latin typeface="Inconsolata" pitchFamily="34" charset="0"/>
                <a:ea typeface="Inconsolata" pitchFamily="34" charset="-122"/>
                <a:cs typeface="Inconsolata" pitchFamily="34" charset="-120"/>
              </a:rPr>
              <a:t> 50 customers</a:t>
            </a:r>
            <a:endParaRPr lang="en-US" sz="1300" dirty="0"/>
          </a:p>
          <a:p>
            <a:pPr marL="264160" indent="-264160" algn="l">
              <a:lnSpc>
                <a:spcPct val="133000"/>
              </a:lnSpc>
              <a:buSzPct val="100000"/>
              <a:buChar char="•"/>
            </a:pPr>
            <a:r>
              <a:rPr lang="en-US" sz="1300" b="1" dirty="0">
                <a:solidFill>
                  <a:srgbClr val="151617"/>
                </a:solidFill>
                <a:latin typeface="Inconsolata Bold" pitchFamily="34" charset="0"/>
                <a:ea typeface="Inconsolata Bold" pitchFamily="34" charset="-122"/>
                <a:cs typeface="Inconsolata Bold" pitchFamily="34" charset="-120"/>
              </a:rPr>
              <a:t>Storage:</a:t>
            </a:r>
            <a:r>
              <a:rPr lang="en-US" sz="1300" dirty="0">
                <a:solidFill>
                  <a:srgbClr val="151617"/>
                </a:solidFill>
                <a:latin typeface="Inconsolata" pitchFamily="34" charset="0"/>
                <a:ea typeface="Inconsolata" pitchFamily="34" charset="-122"/>
                <a:cs typeface="Inconsolata" pitchFamily="34" charset="-120"/>
              </a:rPr>
              <a:t> Array-based implementation</a:t>
            </a:r>
            <a:endParaRPr lang="en-US" sz="1300" dirty="0"/>
          </a:p>
        </p:txBody>
      </p:sp>
      <p:pic>
        <p:nvPicPr>
          <p:cNvPr id="12" name="Picture 11">
            <a:extLst>
              <a:ext uri="{FF2B5EF4-FFF2-40B4-BE49-F238E27FC236}">
                <a16:creationId xmlns:a16="http://schemas.microsoft.com/office/drawing/2014/main" id="{68291EDD-192D-3DCC-B113-A13E58950A27}"/>
              </a:ext>
            </a:extLst>
          </p:cNvPr>
          <p:cNvPicPr>
            <a:picLocks noChangeAspect="1"/>
          </p:cNvPicPr>
          <p:nvPr/>
        </p:nvPicPr>
        <p:blipFill>
          <a:blip r:embed="rId3"/>
          <a:stretch>
            <a:fillRect/>
          </a:stretch>
        </p:blipFill>
        <p:spPr>
          <a:xfrm>
            <a:off x="9163416" y="6356053"/>
            <a:ext cx="2965392" cy="5019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97086"/>
            <a:ext cx="10868745" cy="436066"/>
          </a:xfrm>
          <a:prstGeom prst="rect">
            <a:avLst/>
          </a:prstGeom>
          <a:noFill/>
          <a:ln/>
        </p:spPr>
        <p:txBody>
          <a:bodyPr wrap="none" lIns="0" tIns="0" rIns="0" bIns="0" rtlCol="0" anchor="t"/>
          <a:lstStyle/>
          <a:p>
            <a:pPr marL="0" indent="0" algn="l">
              <a:lnSpc>
                <a:spcPct val="104000"/>
              </a:lnSpc>
              <a:buNone/>
            </a:pPr>
            <a:r>
              <a:rPr lang="en-US" sz="2700" dirty="0">
                <a:solidFill>
                  <a:srgbClr val="151617"/>
                </a:solidFill>
                <a:latin typeface="Montserrat Black" pitchFamily="34" charset="0"/>
                <a:ea typeface="Montserrat Black" pitchFamily="34" charset="-122"/>
                <a:cs typeface="Montserrat Black" pitchFamily="34" charset="-120"/>
              </a:rPr>
              <a:t>Searching &amp; Sorting</a:t>
            </a:r>
            <a:endParaRPr lang="en-US" sz="2700" dirty="0"/>
          </a:p>
        </p:txBody>
      </p:sp>
      <p:sp>
        <p:nvSpPr>
          <p:cNvPr id="3" name="Shape 1"/>
          <p:cNvSpPr/>
          <p:nvPr/>
        </p:nvSpPr>
        <p:spPr>
          <a:xfrm>
            <a:off x="561068" y="1109762"/>
            <a:ext cx="5465030" cy="3507581"/>
          </a:xfrm>
          <a:prstGeom prst="roundRect">
            <a:avLst>
              <a:gd name="adj" fmla="val 217"/>
            </a:avLst>
          </a:prstGeom>
          <a:solidFill>
            <a:srgbClr val="151617"/>
          </a:solidFill>
          <a:ln/>
        </p:spPr>
      </p:sp>
      <p:sp>
        <p:nvSpPr>
          <p:cNvPr id="4" name="Text 2"/>
          <p:cNvSpPr/>
          <p:nvPr/>
        </p:nvSpPr>
        <p:spPr>
          <a:xfrm>
            <a:off x="700566" y="1227435"/>
            <a:ext cx="5186034" cy="217984"/>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Montserrat Black" pitchFamily="34" charset="0"/>
                <a:ea typeface="Montserrat Black" pitchFamily="34" charset="-122"/>
                <a:cs typeface="Montserrat Black" pitchFamily="34" charset="-120"/>
              </a:rPr>
              <a:t>1. Linear Search — O(n)</a:t>
            </a:r>
            <a:endParaRPr lang="en-US" sz="1350" dirty="0"/>
          </a:p>
        </p:txBody>
      </p:sp>
      <p:sp>
        <p:nvSpPr>
          <p:cNvPr id="5" name="Text 3"/>
          <p:cNvSpPr/>
          <p:nvPr/>
        </p:nvSpPr>
        <p:spPr>
          <a:xfrm>
            <a:off x="700566" y="1563092"/>
            <a:ext cx="5186034"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FFFFFF"/>
                </a:solidFill>
                <a:latin typeface="Inconsolata" pitchFamily="34" charset="0"/>
                <a:ea typeface="Inconsolata" pitchFamily="34" charset="-122"/>
                <a:cs typeface="Inconsolata" pitchFamily="34" charset="-120"/>
              </a:rPr>
              <a:t>Finds a movie by scanning records sequentially until the matching Movie ID is located.</a:t>
            </a:r>
            <a:endParaRPr lang="en-US" sz="1050" dirty="0"/>
          </a:p>
        </p:txBody>
      </p:sp>
      <p:sp>
        <p:nvSpPr>
          <p:cNvPr id="6" name="Shape 4"/>
          <p:cNvSpPr/>
          <p:nvPr/>
        </p:nvSpPr>
        <p:spPr>
          <a:xfrm>
            <a:off x="700566" y="2107307"/>
            <a:ext cx="5186034" cy="1395710"/>
          </a:xfrm>
          <a:prstGeom prst="roundRect">
            <a:avLst>
              <a:gd name="adj" fmla="val 546"/>
            </a:avLst>
          </a:prstGeom>
          <a:solidFill>
            <a:srgbClr val="222324"/>
          </a:solidFill>
          <a:ln/>
        </p:spPr>
      </p:sp>
      <p:sp>
        <p:nvSpPr>
          <p:cNvPr id="7" name="Text 5"/>
          <p:cNvSpPr/>
          <p:nvPr/>
        </p:nvSpPr>
        <p:spPr>
          <a:xfrm>
            <a:off x="867944" y="2246809"/>
            <a:ext cx="4851279" cy="1116707"/>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for (i = 0; i &lt; MAX_MOVIES; i++)</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if (movies[i].id == id)</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        return i;</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8" name="Text 6"/>
          <p:cNvSpPr/>
          <p:nvPr/>
        </p:nvSpPr>
        <p:spPr>
          <a:xfrm>
            <a:off x="700566" y="3635474"/>
            <a:ext cx="5795619" cy="205879"/>
          </a:xfrm>
          <a:prstGeom prst="rect">
            <a:avLst/>
          </a:prstGeom>
          <a:noFill/>
          <a:ln/>
        </p:spPr>
        <p:txBody>
          <a:bodyPr wrap="none" lIns="0" tIns="0" rIns="0" bIns="0" rtlCol="0" anchor="t"/>
          <a:lstStyle/>
          <a:p>
            <a:pPr marL="0" indent="0" algn="l">
              <a:lnSpc>
                <a:spcPct val="123000"/>
              </a:lnSpc>
              <a:buNone/>
            </a:pPr>
            <a:r>
              <a:rPr lang="en-US" sz="1050" b="1" dirty="0">
                <a:solidFill>
                  <a:srgbClr val="FFFFFF"/>
                </a:solidFill>
                <a:latin typeface="Inconsolata Bold" pitchFamily="34" charset="0"/>
                <a:ea typeface="Inconsolata Bold" pitchFamily="34" charset="-122"/>
                <a:cs typeface="Inconsolata Bold" pitchFamily="34" charset="-120"/>
              </a:rPr>
              <a:t>Worst-case:</a:t>
            </a:r>
            <a:r>
              <a:rPr lang="en-US" sz="1050" dirty="0">
                <a:solidFill>
                  <a:srgbClr val="FFFFFF"/>
                </a:solidFill>
                <a:latin typeface="Inconsolata" pitchFamily="34" charset="0"/>
                <a:ea typeface="Inconsolata" pitchFamily="34" charset="-122"/>
                <a:cs typeface="Inconsolata" pitchFamily="34" charset="-120"/>
              </a:rPr>
              <a:t> O(n) — all 30 records checked.</a:t>
            </a:r>
            <a:endParaRPr lang="en-US" sz="1050" dirty="0"/>
          </a:p>
        </p:txBody>
      </p:sp>
      <p:sp>
        <p:nvSpPr>
          <p:cNvPr id="9" name="Text 7"/>
          <p:cNvSpPr/>
          <p:nvPr/>
        </p:nvSpPr>
        <p:spPr>
          <a:xfrm>
            <a:off x="6272353" y="1227435"/>
            <a:ext cx="5264217" cy="217984"/>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2. Bubble Sort — O(n²)</a:t>
            </a:r>
            <a:endParaRPr lang="en-US" sz="1350" dirty="0"/>
          </a:p>
        </p:txBody>
      </p:sp>
      <p:sp>
        <p:nvSpPr>
          <p:cNvPr id="10" name="Text 8"/>
          <p:cNvSpPr/>
          <p:nvPr/>
        </p:nvSpPr>
        <p:spPr>
          <a:xfrm>
            <a:off x="6272353" y="1563092"/>
            <a:ext cx="5264217" cy="411758"/>
          </a:xfrm>
          <a:prstGeom prst="rect">
            <a:avLst/>
          </a:prstGeom>
          <a:noFill/>
          <a:ln/>
        </p:spPr>
        <p:txBody>
          <a:bodyPr wrap="square" lIns="0" tIns="0" rIns="0" bIns="0" rtlCol="0" anchor="t">
            <a:normAutofit/>
          </a:bodyPr>
          <a:lstStyle/>
          <a:p>
            <a:pPr marL="0" indent="0" algn="l">
              <a:lnSpc>
                <a:spcPct val="123000"/>
              </a:lnSpc>
              <a:buNone/>
            </a:pPr>
            <a:r>
              <a:rPr lang="en-US" sz="1050" dirty="0">
                <a:solidFill>
                  <a:srgbClr val="151617"/>
                </a:solidFill>
                <a:latin typeface="Inconsolata" pitchFamily="34" charset="0"/>
                <a:ea typeface="Inconsolata" pitchFamily="34" charset="-122"/>
                <a:cs typeface="Inconsolata" pitchFamily="34" charset="-120"/>
              </a:rPr>
              <a:t>Sorts movies by ticket price in ascending order by comparing and swapping adjacent pairs.</a:t>
            </a:r>
            <a:endParaRPr lang="en-US" sz="1050" dirty="0"/>
          </a:p>
        </p:txBody>
      </p:sp>
      <p:sp>
        <p:nvSpPr>
          <p:cNvPr id="11" name="Shape 9"/>
          <p:cNvSpPr/>
          <p:nvPr/>
        </p:nvSpPr>
        <p:spPr>
          <a:xfrm>
            <a:off x="6272353" y="2107307"/>
            <a:ext cx="5264217" cy="2065734"/>
          </a:xfrm>
          <a:prstGeom prst="roundRect">
            <a:avLst>
              <a:gd name="adj" fmla="val 369"/>
            </a:avLst>
          </a:prstGeom>
          <a:solidFill>
            <a:srgbClr val="EBDFD7"/>
          </a:solidFill>
          <a:ln/>
        </p:spPr>
      </p:sp>
      <p:sp>
        <p:nvSpPr>
          <p:cNvPr id="12" name="Text 10"/>
          <p:cNvSpPr/>
          <p:nvPr/>
        </p:nvSpPr>
        <p:spPr>
          <a:xfrm>
            <a:off x="6439731" y="2246809"/>
            <a:ext cx="4929461" cy="1786731"/>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for (i = 0; i &lt; MAX_MOVIES-1; i++)</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for (j = 0; j &lt; MAX_MOVIES-i-1; j++)</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if (movies[j].price &gt; movies[j+1].price)</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temp = movies[j];</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movies[j] = movies[j+1];</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movies[j+1] = temp;</a:t>
            </a:r>
            <a:endParaRPr lang="en-US" sz="1050" dirty="0"/>
          </a:p>
          <a:p>
            <a:pPr marL="0" indent="0" algn="l">
              <a:lnSpc>
                <a:spcPct val="133000"/>
              </a:lnSpc>
              <a:buNone/>
            </a:pPr>
            <a:r>
              <a:rPr lang="en-US" sz="1050" dirty="0">
                <a:solidFill>
                  <a:srgbClr val="24292E"/>
                </a:solidFill>
                <a:latin typeface="Consolas" pitchFamily="34" charset="0"/>
                <a:ea typeface="Consolas" pitchFamily="34" charset="-122"/>
                <a:cs typeface="Consolas" pitchFamily="34" charset="-120"/>
              </a:rPr>
              <a:t>    }</a:t>
            </a:r>
            <a:endParaRPr lang="en-US" sz="1050" dirty="0"/>
          </a:p>
        </p:txBody>
      </p:sp>
      <p:sp>
        <p:nvSpPr>
          <p:cNvPr id="13" name="Text 11"/>
          <p:cNvSpPr/>
          <p:nvPr/>
        </p:nvSpPr>
        <p:spPr>
          <a:xfrm>
            <a:off x="6272353" y="4305498"/>
            <a:ext cx="5873801" cy="205879"/>
          </a:xfrm>
          <a:prstGeom prst="rect">
            <a:avLst/>
          </a:prstGeom>
          <a:noFill/>
          <a:ln/>
        </p:spPr>
        <p:txBody>
          <a:bodyPr wrap="none" lIns="0" tIns="0" rIns="0" bIns="0" rtlCol="0" anchor="t"/>
          <a:lstStyle/>
          <a:p>
            <a:pPr marL="0" indent="0" algn="l">
              <a:lnSpc>
                <a:spcPct val="123000"/>
              </a:lnSpc>
              <a:buNone/>
            </a:pPr>
            <a:r>
              <a:rPr lang="en-US" sz="1050" b="1" dirty="0">
                <a:solidFill>
                  <a:srgbClr val="151617"/>
                </a:solidFill>
                <a:latin typeface="Inconsolata Bold" pitchFamily="34" charset="0"/>
                <a:ea typeface="Inconsolata Bold" pitchFamily="34" charset="-122"/>
                <a:cs typeface="Inconsolata Bold" pitchFamily="34" charset="-120"/>
              </a:rPr>
              <a:t>Time Complexity:</a:t>
            </a:r>
            <a:r>
              <a:rPr lang="en-US" sz="1050" dirty="0">
                <a:solidFill>
                  <a:srgbClr val="151617"/>
                </a:solidFill>
                <a:latin typeface="Inconsolata" pitchFamily="34" charset="0"/>
                <a:ea typeface="Inconsolata" pitchFamily="34" charset="-122"/>
                <a:cs typeface="Inconsolata" pitchFamily="34" charset="-120"/>
              </a:rPr>
              <a:t> O(n²)</a:t>
            </a:r>
            <a:endParaRPr lang="en-US" sz="1050" dirty="0"/>
          </a:p>
        </p:txBody>
      </p:sp>
      <p:sp>
        <p:nvSpPr>
          <p:cNvPr id="14" name="Text 12"/>
          <p:cNvSpPr/>
          <p:nvPr/>
        </p:nvSpPr>
        <p:spPr>
          <a:xfrm>
            <a:off x="661475" y="4793952"/>
            <a:ext cx="10868745" cy="217984"/>
          </a:xfrm>
          <a:prstGeom prst="rect">
            <a:avLst/>
          </a:prstGeom>
          <a:noFill/>
          <a:ln/>
        </p:spPr>
        <p:txBody>
          <a:bodyPr wrap="none" lIns="0" tIns="0" rIns="0" bIns="0" rtlCol="0" anchor="t"/>
          <a:lstStyle/>
          <a:p>
            <a:pPr marL="0" indent="0" algn="l">
              <a:lnSpc>
                <a:spcPct val="104000"/>
              </a:lnSpc>
              <a:buNone/>
            </a:pPr>
            <a:r>
              <a:rPr lang="en-US" sz="1350" dirty="0">
                <a:solidFill>
                  <a:srgbClr val="151617"/>
                </a:solidFill>
                <a:latin typeface="Montserrat Black" pitchFamily="34" charset="0"/>
                <a:ea typeface="Montserrat Black" pitchFamily="34" charset="-122"/>
                <a:cs typeface="Montserrat Black" pitchFamily="34" charset="-120"/>
              </a:rPr>
              <a:t>Bubble Sort — Pass-by-Pass Example</a:t>
            </a:r>
            <a:endParaRPr lang="en-US" sz="1350" dirty="0"/>
          </a:p>
        </p:txBody>
      </p:sp>
      <p:sp>
        <p:nvSpPr>
          <p:cNvPr id="15" name="Shape 13"/>
          <p:cNvSpPr/>
          <p:nvPr/>
        </p:nvSpPr>
        <p:spPr>
          <a:xfrm>
            <a:off x="661475" y="5188545"/>
            <a:ext cx="10868745" cy="1172369"/>
          </a:xfrm>
          <a:prstGeom prst="roundRect">
            <a:avLst>
              <a:gd name="adj" fmla="val 650"/>
            </a:avLst>
          </a:prstGeom>
          <a:solidFill>
            <a:srgbClr val="EBDFD7"/>
          </a:solidFill>
          <a:ln/>
        </p:spPr>
      </p:sp>
      <p:sp>
        <p:nvSpPr>
          <p:cNvPr id="16" name="Text 14"/>
          <p:cNvSpPr/>
          <p:nvPr/>
        </p:nvSpPr>
        <p:spPr>
          <a:xfrm>
            <a:off x="828853" y="5328047"/>
            <a:ext cx="10533990" cy="893366"/>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Initial: ₹250 ₹180 ₹300 ₹150</a:t>
            </a:r>
            <a:endParaRPr lang="en-US" sz="1050" dirty="0"/>
          </a:p>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Pass 1: ₹180 ₹250 ₹150 ₹300 (swap adjacent if left &gt; right)</a:t>
            </a:r>
            <a:endParaRPr lang="en-US" sz="1050" dirty="0"/>
          </a:p>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Pass 2: ₹180 ₹150 ₹250 ₹300</a:t>
            </a:r>
            <a:endParaRPr lang="en-US" sz="1050" dirty="0"/>
          </a:p>
          <a:p>
            <a:pPr marL="0" indent="0" algn="l">
              <a:lnSpc>
                <a:spcPct val="133000"/>
              </a:lnSpc>
              <a:buNone/>
            </a:pPr>
            <a:r>
              <a:rPr lang="en-US" sz="1050" dirty="0">
                <a:solidFill>
                  <a:srgbClr val="005CC5"/>
                </a:solidFill>
                <a:latin typeface="Consolas" pitchFamily="34" charset="0"/>
                <a:ea typeface="Consolas" pitchFamily="34" charset="-122"/>
                <a:cs typeface="Consolas" pitchFamily="34" charset="-120"/>
              </a:rPr>
              <a:t>Pass 3: ₹150 ₹180 ₹250 ₹300 ← Sorted</a:t>
            </a:r>
            <a:endParaRPr lang="en-US" sz="1050" dirty="0"/>
          </a:p>
        </p:txBody>
      </p:sp>
      <p:pic>
        <p:nvPicPr>
          <p:cNvPr id="17" name="Picture 16">
            <a:extLst>
              <a:ext uri="{FF2B5EF4-FFF2-40B4-BE49-F238E27FC236}">
                <a16:creationId xmlns:a16="http://schemas.microsoft.com/office/drawing/2014/main" id="{751DECC4-02D1-83A6-631F-A95C6F2C079E}"/>
              </a:ext>
            </a:extLst>
          </p:cNvPr>
          <p:cNvPicPr>
            <a:picLocks noChangeAspect="1"/>
          </p:cNvPicPr>
          <p:nvPr/>
        </p:nvPicPr>
        <p:blipFill>
          <a:blip r:embed="rId3"/>
          <a:stretch>
            <a:fillRect/>
          </a:stretch>
        </p:blipFill>
        <p:spPr>
          <a:xfrm>
            <a:off x="8479742" y="6407744"/>
            <a:ext cx="3666412" cy="43428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6009"/>
            <a:ext cx="10868745" cy="419894"/>
          </a:xfrm>
          <a:prstGeom prst="rect">
            <a:avLst/>
          </a:prstGeom>
          <a:noFill/>
          <a:ln/>
        </p:spPr>
        <p:txBody>
          <a:bodyPr wrap="none" lIns="0" tIns="0" rIns="0" bIns="0" rtlCol="0" anchor="t"/>
          <a:lstStyle/>
          <a:p>
            <a:pPr marL="0" indent="0" algn="l">
              <a:lnSpc>
                <a:spcPct val="104000"/>
              </a:lnSpc>
              <a:buNone/>
            </a:pPr>
            <a:r>
              <a:rPr lang="en-US" sz="2600" dirty="0">
                <a:solidFill>
                  <a:srgbClr val="151617"/>
                </a:solidFill>
                <a:latin typeface="Montserrat Black" pitchFamily="34" charset="0"/>
                <a:ea typeface="Montserrat Black" pitchFamily="34" charset="-122"/>
                <a:cs typeface="Montserrat Black" pitchFamily="34" charset="-120"/>
              </a:rPr>
              <a:t>Program Structure &amp; Main Menu</a:t>
            </a:r>
            <a:endParaRPr lang="en-US" sz="2600" dirty="0"/>
          </a:p>
        </p:txBody>
      </p:sp>
      <p:sp>
        <p:nvSpPr>
          <p:cNvPr id="4" name="Text 2"/>
          <p:cNvSpPr/>
          <p:nvPr/>
        </p:nvSpPr>
        <p:spPr>
          <a:xfrm>
            <a:off x="699078" y="1148755"/>
            <a:ext cx="4971330" cy="209947"/>
          </a:xfrm>
          <a:prstGeom prst="rect">
            <a:avLst/>
          </a:prstGeom>
          <a:noFill/>
          <a:ln/>
        </p:spPr>
        <p:txBody>
          <a:bodyPr wrap="none" lIns="0" tIns="0" rIns="0" bIns="0" rtlCol="0" anchor="t"/>
          <a:lstStyle/>
          <a:p>
            <a:pPr marL="0" indent="0" algn="l">
              <a:lnSpc>
                <a:spcPct val="104000"/>
              </a:lnSpc>
              <a:buNone/>
            </a:pPr>
            <a:r>
              <a:rPr lang="en-US" sz="1300" dirty="0">
                <a:latin typeface="Montserrat Black" pitchFamily="34" charset="0"/>
                <a:ea typeface="Montserrat Black" pitchFamily="34" charset="-122"/>
                <a:cs typeface="Montserrat Black" pitchFamily="34" charset="-120"/>
              </a:rPr>
              <a:t>Console Menu</a:t>
            </a:r>
            <a:endParaRPr lang="en-US" sz="1300" dirty="0"/>
          </a:p>
        </p:txBody>
      </p:sp>
      <p:sp>
        <p:nvSpPr>
          <p:cNvPr id="6" name="Text 4"/>
          <p:cNvSpPr/>
          <p:nvPr/>
        </p:nvSpPr>
        <p:spPr>
          <a:xfrm>
            <a:off x="860304" y="1615877"/>
            <a:ext cx="4648877" cy="2793802"/>
          </a:xfrm>
          <a:prstGeom prst="rect">
            <a:avLst/>
          </a:prstGeom>
          <a:noFill/>
          <a:ln/>
        </p:spPr>
        <p:txBody>
          <a:bodyPr wrap="square" lIns="0" tIns="0" rIns="0" bIns="0" rtlCol="0" anchor="t">
            <a:normAutofit/>
          </a:bodyPr>
          <a:lstStyle/>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MOVIE TICKET BOOKING SYSTEM</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1. Display All Movies</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2. Search Movie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3. Sort Movies by Price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4. Book Ticket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5. Cancel Ticket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6. Add Customer to Waiting Queue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7. Display Waiting Queue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8. Process Waiting Queue</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9. Exit</a:t>
            </a:r>
            <a:endParaRPr lang="en-US" sz="1050" dirty="0"/>
          </a:p>
          <a:p>
            <a:pPr marL="0" indent="0" algn="l">
              <a:lnSpc>
                <a:spcPct val="133000"/>
              </a:lnSpc>
              <a:buNone/>
            </a:pPr>
            <a:r>
              <a:rPr lang="en-US" sz="1050" dirty="0">
                <a:solidFill>
                  <a:srgbClr val="E6EDF3"/>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6042171" y="1148755"/>
            <a:ext cx="5494398"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Module Breakdown from main()</a:t>
            </a:r>
            <a:endParaRPr lang="en-US" sz="1300" dirty="0"/>
          </a:p>
        </p:txBody>
      </p:sp>
      <p:sp>
        <p:nvSpPr>
          <p:cNvPr id="8" name="Text 6"/>
          <p:cNvSpPr/>
          <p:nvPr/>
        </p:nvSpPr>
        <p:spPr>
          <a:xfrm>
            <a:off x="6042171" y="1467842"/>
            <a:ext cx="5494398" cy="1825526"/>
          </a:xfrm>
          <a:prstGeom prst="rect">
            <a:avLst/>
          </a:prstGeom>
          <a:noFill/>
          <a:ln/>
        </p:spPr>
        <p:txBody>
          <a:bodyPr wrap="square" lIns="0" tIns="0" rIns="0" bIns="0" rtlCol="0" anchor="t">
            <a:normAutofit fontScale="92500" lnSpcReduction="20000"/>
          </a:bodyPr>
          <a:lstStyle/>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displayMovies()</a:t>
            </a:r>
            <a:r>
              <a:rPr lang="en-US" dirty="0">
                <a:solidFill>
                  <a:srgbClr val="151617"/>
                </a:solidFill>
                <a:latin typeface="Inconsolata" pitchFamily="34" charset="0"/>
                <a:ea typeface="Inconsolata" pitchFamily="34" charset="-122"/>
                <a:cs typeface="Inconsolata" pitchFamily="34" charset="-120"/>
              </a:rPr>
              <a:t> — Lists all 30 records</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searchMovie()</a:t>
            </a:r>
            <a:r>
              <a:rPr lang="en-US" dirty="0">
                <a:solidFill>
                  <a:srgbClr val="151617"/>
                </a:solidFill>
                <a:latin typeface="Inconsolata" pitchFamily="34" charset="0"/>
                <a:ea typeface="Inconsolata" pitchFamily="34" charset="-122"/>
                <a:cs typeface="Inconsolata" pitchFamily="34" charset="-120"/>
              </a:rPr>
              <a:t> — Linear search by ID</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sortMovies()</a:t>
            </a:r>
            <a:r>
              <a:rPr lang="en-US" dirty="0">
                <a:solidFill>
                  <a:srgbClr val="151617"/>
                </a:solidFill>
                <a:latin typeface="Inconsolata" pitchFamily="34" charset="0"/>
                <a:ea typeface="Inconsolata" pitchFamily="34" charset="-122"/>
                <a:cs typeface="Inconsolata" pitchFamily="34" charset="-120"/>
              </a:rPr>
              <a:t> — Bubble sort by price</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bookTicket()</a:t>
            </a:r>
            <a:r>
              <a:rPr lang="en-US" dirty="0">
                <a:solidFill>
                  <a:srgbClr val="151617"/>
                </a:solidFill>
                <a:latin typeface="Inconsolata" pitchFamily="34" charset="0"/>
                <a:ea typeface="Inconsolata" pitchFamily="34" charset="-122"/>
                <a:cs typeface="Inconsolata" pitchFamily="34" charset="-120"/>
              </a:rPr>
              <a:t> — Seat check and booking</a:t>
            </a:r>
            <a:endParaRPr lang="en-US" dirty="0"/>
          </a:p>
          <a:p>
            <a:pPr marL="213360" indent="-213360" algn="l">
              <a:lnSpc>
                <a:spcPct val="121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cancelTicket()</a:t>
            </a:r>
            <a:r>
              <a:rPr lang="en-US" dirty="0">
                <a:solidFill>
                  <a:srgbClr val="151617"/>
                </a:solidFill>
                <a:latin typeface="Inconsolata" pitchFamily="34" charset="0"/>
                <a:ea typeface="Inconsolata" pitchFamily="34" charset="-122"/>
                <a:cs typeface="Inconsolata" pitchFamily="34" charset="-120"/>
              </a:rPr>
              <a:t> — Free seat, process queue</a:t>
            </a:r>
            <a:endParaRPr lang="en-US" dirty="0"/>
          </a:p>
          <a:p>
            <a:pPr marL="213360" indent="-213360" algn="l">
              <a:lnSpc>
                <a:spcPct val="121000"/>
              </a:lnSpc>
              <a:buSzPct val="100000"/>
              <a:buChar char="•"/>
            </a:pPr>
            <a:r>
              <a:rPr lang="en-US" b="1" dirty="0" err="1">
                <a:solidFill>
                  <a:srgbClr val="151617"/>
                </a:solidFill>
                <a:latin typeface="Inconsolata Bold" pitchFamily="34" charset="0"/>
                <a:ea typeface="Inconsolata Bold" pitchFamily="34" charset="-122"/>
                <a:cs typeface="Inconsolata Bold" pitchFamily="34" charset="-120"/>
              </a:rPr>
              <a:t>displayQueue</a:t>
            </a:r>
            <a:r>
              <a:rPr lang="en-US" b="1" dirty="0">
                <a:solidFill>
                  <a:srgbClr val="151617"/>
                </a:solidFill>
                <a:latin typeface="Inconsolata Bold" pitchFamily="34" charset="0"/>
                <a:ea typeface="Inconsolata Bold" pitchFamily="34" charset="-122"/>
                <a:cs typeface="Inconsolata Bold" pitchFamily="34" charset="-120"/>
              </a:rPr>
              <a:t>()</a:t>
            </a:r>
            <a:r>
              <a:rPr lang="en-US" dirty="0">
                <a:solidFill>
                  <a:srgbClr val="151617"/>
                </a:solidFill>
                <a:latin typeface="Inconsolata" pitchFamily="34" charset="0"/>
                <a:ea typeface="Inconsolata" pitchFamily="34" charset="-122"/>
                <a:cs typeface="Inconsolata" pitchFamily="34" charset="-120"/>
              </a:rPr>
              <a:t> — Print queue contents</a:t>
            </a:r>
          </a:p>
          <a:p>
            <a:pPr marL="213360" indent="-213360" algn="l">
              <a:lnSpc>
                <a:spcPct val="121000"/>
              </a:lnSpc>
              <a:buSzPct val="100000"/>
              <a:buChar char="•"/>
            </a:pPr>
            <a:r>
              <a:rPr lang="en-US" b="1" dirty="0" err="1">
                <a:latin typeface="Inconsolata" pitchFamily="1" charset="0"/>
                <a:ea typeface="Inconsolata" pitchFamily="1" charset="0"/>
              </a:rPr>
              <a:t>displayBookings</a:t>
            </a:r>
            <a:r>
              <a:rPr lang="en-US" b="1" dirty="0">
                <a:latin typeface="Inconsolata" pitchFamily="1" charset="0"/>
                <a:ea typeface="Inconsolata" pitchFamily="1" charset="0"/>
              </a:rPr>
              <a:t>() </a:t>
            </a:r>
            <a:r>
              <a:rPr lang="en-US" dirty="0">
                <a:latin typeface="Inconsolata" pitchFamily="1" charset="0"/>
                <a:ea typeface="Inconsolata" pitchFamily="1" charset="0"/>
              </a:rPr>
              <a:t>– lists all the bookings</a:t>
            </a:r>
          </a:p>
        </p:txBody>
      </p:sp>
      <p:sp>
        <p:nvSpPr>
          <p:cNvPr id="9" name="Shape 7"/>
          <p:cNvSpPr/>
          <p:nvPr/>
        </p:nvSpPr>
        <p:spPr>
          <a:xfrm>
            <a:off x="661475" y="4789686"/>
            <a:ext cx="3550156"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sp>
      <p:sp>
        <p:nvSpPr>
          <p:cNvPr id="10" name="Text 8"/>
          <p:cNvSpPr/>
          <p:nvPr/>
        </p:nvSpPr>
        <p:spPr>
          <a:xfrm>
            <a:off x="802164" y="4930378"/>
            <a:ext cx="3268779"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Language</a:t>
            </a:r>
            <a:endParaRPr lang="en-US" sz="1300" dirty="0"/>
          </a:p>
        </p:txBody>
      </p:sp>
      <p:sp>
        <p:nvSpPr>
          <p:cNvPr id="11" name="Text 9"/>
          <p:cNvSpPr/>
          <p:nvPr/>
        </p:nvSpPr>
        <p:spPr>
          <a:xfrm>
            <a:off x="802164" y="5205809"/>
            <a:ext cx="3268779"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C</a:t>
            </a:r>
            <a:endParaRPr lang="en-US" sz="1050" dirty="0"/>
          </a:p>
        </p:txBody>
      </p:sp>
      <p:sp>
        <p:nvSpPr>
          <p:cNvPr id="12" name="Shape 10"/>
          <p:cNvSpPr/>
          <p:nvPr/>
        </p:nvSpPr>
        <p:spPr>
          <a:xfrm>
            <a:off x="4320769" y="4789686"/>
            <a:ext cx="3550156"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sp>
      <p:sp>
        <p:nvSpPr>
          <p:cNvPr id="13" name="Text 11"/>
          <p:cNvSpPr/>
          <p:nvPr/>
        </p:nvSpPr>
        <p:spPr>
          <a:xfrm>
            <a:off x="4461458" y="4930378"/>
            <a:ext cx="3268779"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Movies</a:t>
            </a:r>
            <a:endParaRPr lang="en-US" sz="1300" dirty="0"/>
          </a:p>
        </p:txBody>
      </p:sp>
      <p:sp>
        <p:nvSpPr>
          <p:cNvPr id="14" name="Text 12"/>
          <p:cNvSpPr/>
          <p:nvPr/>
        </p:nvSpPr>
        <p:spPr>
          <a:xfrm>
            <a:off x="4461458" y="5205809"/>
            <a:ext cx="3268779"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30 predefined</a:t>
            </a:r>
            <a:endParaRPr lang="en-US" sz="1050" dirty="0"/>
          </a:p>
        </p:txBody>
      </p:sp>
      <p:sp>
        <p:nvSpPr>
          <p:cNvPr id="15" name="Shape 13"/>
          <p:cNvSpPr/>
          <p:nvPr/>
        </p:nvSpPr>
        <p:spPr>
          <a:xfrm>
            <a:off x="7980064" y="4789686"/>
            <a:ext cx="3550156"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sp>
      <p:sp>
        <p:nvSpPr>
          <p:cNvPr id="16" name="Text 14"/>
          <p:cNvSpPr/>
          <p:nvPr/>
        </p:nvSpPr>
        <p:spPr>
          <a:xfrm>
            <a:off x="8120752" y="4930378"/>
            <a:ext cx="3268779"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Queue Capacity</a:t>
            </a:r>
            <a:endParaRPr lang="en-US" sz="1300" dirty="0"/>
          </a:p>
        </p:txBody>
      </p:sp>
      <p:sp>
        <p:nvSpPr>
          <p:cNvPr id="17" name="Text 15"/>
          <p:cNvSpPr/>
          <p:nvPr/>
        </p:nvSpPr>
        <p:spPr>
          <a:xfrm>
            <a:off x="8120752" y="5205809"/>
            <a:ext cx="3268779"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50 customers</a:t>
            </a:r>
            <a:endParaRPr lang="en-US" sz="1050" dirty="0"/>
          </a:p>
        </p:txBody>
      </p:sp>
      <p:sp>
        <p:nvSpPr>
          <p:cNvPr id="18" name="Shape 16"/>
          <p:cNvSpPr/>
          <p:nvPr/>
        </p:nvSpPr>
        <p:spPr>
          <a:xfrm>
            <a:off x="661475" y="5650409"/>
            <a:ext cx="5379804"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sp>
      <p:sp>
        <p:nvSpPr>
          <p:cNvPr id="19" name="Text 17"/>
          <p:cNvSpPr/>
          <p:nvPr/>
        </p:nvSpPr>
        <p:spPr>
          <a:xfrm>
            <a:off x="802164" y="5791101"/>
            <a:ext cx="5098426"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Search</a:t>
            </a:r>
            <a:endParaRPr lang="en-US" sz="1300" dirty="0"/>
          </a:p>
        </p:txBody>
      </p:sp>
      <p:sp>
        <p:nvSpPr>
          <p:cNvPr id="20" name="Text 18"/>
          <p:cNvSpPr/>
          <p:nvPr/>
        </p:nvSpPr>
        <p:spPr>
          <a:xfrm>
            <a:off x="802164" y="6066532"/>
            <a:ext cx="5098426"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Linear — O(n)</a:t>
            </a:r>
            <a:endParaRPr lang="en-US" sz="1050" dirty="0"/>
          </a:p>
        </p:txBody>
      </p:sp>
      <p:sp>
        <p:nvSpPr>
          <p:cNvPr id="21" name="Shape 19"/>
          <p:cNvSpPr/>
          <p:nvPr/>
        </p:nvSpPr>
        <p:spPr>
          <a:xfrm>
            <a:off x="6150416" y="5650409"/>
            <a:ext cx="5379804" cy="751582"/>
          </a:xfrm>
          <a:prstGeom prst="roundRect">
            <a:avLst>
              <a:gd name="adj" fmla="val 1014"/>
            </a:avLst>
          </a:prstGeom>
          <a:solidFill>
            <a:srgbClr val="F8ECE4"/>
          </a:solidFill>
          <a:ln w="6350">
            <a:solidFill>
              <a:srgbClr val="151617"/>
            </a:solidFill>
            <a:prstDash val="solid"/>
          </a:ln>
          <a:effectLst>
            <a:outerShdw blurRad="127" dist="17780" dir="2700000" algn="bl" rotWithShape="0">
              <a:srgbClr val="151617">
                <a:alpha val="100000"/>
              </a:srgbClr>
            </a:outerShdw>
          </a:effectLst>
        </p:spPr>
      </p:sp>
      <p:sp>
        <p:nvSpPr>
          <p:cNvPr id="22" name="Text 20"/>
          <p:cNvSpPr/>
          <p:nvPr/>
        </p:nvSpPr>
        <p:spPr>
          <a:xfrm>
            <a:off x="6291105" y="5791101"/>
            <a:ext cx="5098426" cy="209947"/>
          </a:xfrm>
          <a:prstGeom prst="rect">
            <a:avLst/>
          </a:prstGeom>
          <a:noFill/>
          <a:ln/>
        </p:spPr>
        <p:txBody>
          <a:bodyPr wrap="none" lIns="0" tIns="0" rIns="0" bIns="0" rtlCol="0" anchor="t"/>
          <a:lstStyle/>
          <a:p>
            <a:pPr marL="0" indent="0" algn="l">
              <a:lnSpc>
                <a:spcPct val="104000"/>
              </a:lnSpc>
              <a:buNone/>
            </a:pPr>
            <a:r>
              <a:rPr lang="en-US" sz="1300" dirty="0">
                <a:solidFill>
                  <a:srgbClr val="151617"/>
                </a:solidFill>
                <a:latin typeface="Montserrat Black" pitchFamily="34" charset="0"/>
                <a:ea typeface="Montserrat Black" pitchFamily="34" charset="-122"/>
                <a:cs typeface="Montserrat Black" pitchFamily="34" charset="-120"/>
              </a:rPr>
              <a:t>Sort</a:t>
            </a:r>
            <a:endParaRPr lang="en-US" sz="1300" dirty="0"/>
          </a:p>
        </p:txBody>
      </p:sp>
      <p:sp>
        <p:nvSpPr>
          <p:cNvPr id="23" name="Text 21"/>
          <p:cNvSpPr/>
          <p:nvPr/>
        </p:nvSpPr>
        <p:spPr>
          <a:xfrm>
            <a:off x="6291105" y="6066532"/>
            <a:ext cx="5098426" cy="194766"/>
          </a:xfrm>
          <a:prstGeom prst="rect">
            <a:avLst/>
          </a:prstGeom>
          <a:noFill/>
          <a:ln/>
        </p:spPr>
        <p:txBody>
          <a:bodyPr wrap="none" lIns="0" tIns="0" rIns="0" bIns="0" rtlCol="0" anchor="t"/>
          <a:lstStyle/>
          <a:p>
            <a:pPr marL="0" indent="0" algn="l">
              <a:lnSpc>
                <a:spcPct val="121000"/>
              </a:lnSpc>
              <a:buNone/>
            </a:pPr>
            <a:r>
              <a:rPr lang="en-US" sz="1050" dirty="0">
                <a:solidFill>
                  <a:srgbClr val="151617"/>
                </a:solidFill>
                <a:latin typeface="Inconsolata" pitchFamily="34" charset="0"/>
                <a:ea typeface="Inconsolata" pitchFamily="34" charset="-122"/>
                <a:cs typeface="Inconsolata" pitchFamily="34" charset="-120"/>
              </a:rPr>
              <a:t>Bubble — O(n²)</a:t>
            </a:r>
            <a:endParaRPr lang="en-US" sz="1050" dirty="0"/>
          </a:p>
        </p:txBody>
      </p:sp>
      <p:pic>
        <p:nvPicPr>
          <p:cNvPr id="25" name="Picture 24">
            <a:extLst>
              <a:ext uri="{FF2B5EF4-FFF2-40B4-BE49-F238E27FC236}">
                <a16:creationId xmlns:a16="http://schemas.microsoft.com/office/drawing/2014/main" id="{79B5B560-5A1C-3CFD-A208-87BBBA6B0085}"/>
              </a:ext>
            </a:extLst>
          </p:cNvPr>
          <p:cNvPicPr>
            <a:picLocks noChangeAspect="1"/>
          </p:cNvPicPr>
          <p:nvPr/>
        </p:nvPicPr>
        <p:blipFill>
          <a:blip r:embed="rId3"/>
          <a:stretch>
            <a:fillRect/>
          </a:stretch>
        </p:blipFill>
        <p:spPr>
          <a:xfrm>
            <a:off x="8707217" y="6451683"/>
            <a:ext cx="3409467" cy="392628"/>
          </a:xfrm>
          <a:prstGeom prst="rect">
            <a:avLst/>
          </a:prstGeom>
        </p:spPr>
      </p:pic>
      <p:pic>
        <p:nvPicPr>
          <p:cNvPr id="26" name="Picture 25">
            <a:extLst>
              <a:ext uri="{FF2B5EF4-FFF2-40B4-BE49-F238E27FC236}">
                <a16:creationId xmlns:a16="http://schemas.microsoft.com/office/drawing/2014/main" id="{DE1DE0DA-48B2-1566-42A6-853B879461E0}"/>
              </a:ext>
            </a:extLst>
          </p:cNvPr>
          <p:cNvPicPr>
            <a:picLocks noChangeAspect="1"/>
          </p:cNvPicPr>
          <p:nvPr/>
        </p:nvPicPr>
        <p:blipFill>
          <a:blip r:embed="rId4"/>
          <a:stretch>
            <a:fillRect/>
          </a:stretch>
        </p:blipFill>
        <p:spPr>
          <a:xfrm>
            <a:off x="699078" y="1506736"/>
            <a:ext cx="4755292" cy="17527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54819"/>
            <a:ext cx="10868745" cy="395684"/>
          </a:xfrm>
          <a:prstGeom prst="rect">
            <a:avLst/>
          </a:prstGeom>
          <a:noFill/>
          <a:ln/>
        </p:spPr>
        <p:txBody>
          <a:bodyPr wrap="none" lIns="0" tIns="0" rIns="0" bIns="0" rtlCol="0" anchor="t"/>
          <a:lstStyle/>
          <a:p>
            <a:pPr marL="0" indent="0" algn="l">
              <a:lnSpc>
                <a:spcPct val="104000"/>
              </a:lnSpc>
              <a:buNone/>
            </a:pPr>
            <a:r>
              <a:rPr lang="en-US" sz="2450" dirty="0">
                <a:solidFill>
                  <a:srgbClr val="151617"/>
                </a:solidFill>
                <a:latin typeface="Montserrat Black" pitchFamily="34" charset="0"/>
                <a:ea typeface="Montserrat Black" pitchFamily="34" charset="-122"/>
                <a:cs typeface="Montserrat Black" pitchFamily="34" charset="-120"/>
              </a:rPr>
              <a:t>Conclusion &amp; Future Scope</a:t>
            </a:r>
            <a:endParaRPr lang="en-US" sz="2450" dirty="0"/>
          </a:p>
        </p:txBody>
      </p:sp>
      <p:sp>
        <p:nvSpPr>
          <p:cNvPr id="3" name="Text 1"/>
          <p:cNvSpPr/>
          <p:nvPr/>
        </p:nvSpPr>
        <p:spPr>
          <a:xfrm>
            <a:off x="661475" y="889198"/>
            <a:ext cx="10868745"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What We Achieved</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900" y="1238597"/>
            <a:ext cx="189900" cy="189905"/>
          </a:xfrm>
          <a:prstGeom prst="rect">
            <a:avLst/>
          </a:prstGeom>
        </p:spPr>
      </p:pic>
      <p:sp>
        <p:nvSpPr>
          <p:cNvPr id="5" name="Text 2"/>
          <p:cNvSpPr/>
          <p:nvPr/>
        </p:nvSpPr>
        <p:spPr>
          <a:xfrm>
            <a:off x="1072925" y="1232297"/>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Structures organizing movie and customer data</a:t>
            </a:r>
            <a:endParaRPr lang="en-US" sz="9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900" y="1818630"/>
            <a:ext cx="189900" cy="189905"/>
          </a:xfrm>
          <a:prstGeom prst="rect">
            <a:avLst/>
          </a:prstGeom>
        </p:spPr>
      </p:pic>
      <p:sp>
        <p:nvSpPr>
          <p:cNvPr id="7" name="Text 3"/>
          <p:cNvSpPr/>
          <p:nvPr/>
        </p:nvSpPr>
        <p:spPr>
          <a:xfrm>
            <a:off x="1072925" y="1812330"/>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Arrays storing 30 movie records and queue</a:t>
            </a:r>
            <a:endParaRPr lang="en-US" sz="9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900" y="2398663"/>
            <a:ext cx="189900" cy="189905"/>
          </a:xfrm>
          <a:prstGeom prst="rect">
            <a:avLst/>
          </a:prstGeom>
        </p:spPr>
      </p:pic>
      <p:sp>
        <p:nvSpPr>
          <p:cNvPr id="9" name="Text 4"/>
          <p:cNvSpPr/>
          <p:nvPr/>
        </p:nvSpPr>
        <p:spPr>
          <a:xfrm>
            <a:off x="1072925" y="2392363"/>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FIFO queue for waiting customers</a:t>
            </a:r>
            <a:endParaRPr lang="en-US" sz="9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900" y="2978696"/>
            <a:ext cx="189900" cy="189905"/>
          </a:xfrm>
          <a:prstGeom prst="rect">
            <a:avLst/>
          </a:prstGeom>
        </p:spPr>
      </p:pic>
      <p:sp>
        <p:nvSpPr>
          <p:cNvPr id="11" name="Text 5"/>
          <p:cNvSpPr/>
          <p:nvPr/>
        </p:nvSpPr>
        <p:spPr>
          <a:xfrm>
            <a:off x="1072925" y="2972395"/>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Linear Search for Movie ID lookup</a:t>
            </a:r>
            <a:endParaRPr lang="en-US" sz="9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900" y="3558729"/>
            <a:ext cx="189900" cy="189905"/>
          </a:xfrm>
          <a:prstGeom prst="rect">
            <a:avLst/>
          </a:prstGeom>
        </p:spPr>
      </p:pic>
      <p:sp>
        <p:nvSpPr>
          <p:cNvPr id="13" name="Text 6"/>
          <p:cNvSpPr/>
          <p:nvPr/>
        </p:nvSpPr>
        <p:spPr>
          <a:xfrm>
            <a:off x="1072925" y="3552428"/>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Bubble Sort for price-based sorting</a:t>
            </a:r>
            <a:endParaRPr lang="en-US" sz="950" dirty="0"/>
          </a:p>
        </p:txBody>
      </p:sp>
      <p:pic>
        <p:nvPicPr>
          <p:cNvPr id="1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900" y="4138761"/>
            <a:ext cx="189900" cy="189905"/>
          </a:xfrm>
          <a:prstGeom prst="rect">
            <a:avLst/>
          </a:prstGeom>
        </p:spPr>
      </p:pic>
      <p:sp>
        <p:nvSpPr>
          <p:cNvPr id="15" name="Text 7"/>
          <p:cNvSpPr/>
          <p:nvPr/>
        </p:nvSpPr>
        <p:spPr>
          <a:xfrm>
            <a:off x="1072925" y="4132461"/>
            <a:ext cx="10457295" cy="178792"/>
          </a:xfrm>
          <a:prstGeom prst="rect">
            <a:avLst/>
          </a:prstGeom>
          <a:noFill/>
          <a:ln/>
        </p:spPr>
        <p:txBody>
          <a:bodyPr wrap="none" lIns="0" tIns="0" rIns="0" bIns="0" rtlCol="0" anchor="t"/>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Modular functions and dynamic seat management</a:t>
            </a:r>
            <a:endParaRPr lang="en-US" sz="950" dirty="0"/>
          </a:p>
        </p:txBody>
      </p:sp>
      <p:sp>
        <p:nvSpPr>
          <p:cNvPr id="16" name="Text 8"/>
          <p:cNvSpPr/>
          <p:nvPr/>
        </p:nvSpPr>
        <p:spPr>
          <a:xfrm>
            <a:off x="661475" y="4663976"/>
            <a:ext cx="10868745"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Future Enhancements</a:t>
            </a:r>
            <a:endParaRPr lang="en-US" sz="1200" dirty="0"/>
          </a:p>
        </p:txBody>
      </p:sp>
      <p:sp>
        <p:nvSpPr>
          <p:cNvPr id="17" name="Shape 9"/>
          <p:cNvSpPr/>
          <p:nvPr/>
        </p:nvSpPr>
        <p:spPr>
          <a:xfrm>
            <a:off x="661475" y="5007074"/>
            <a:ext cx="3558292" cy="892076"/>
          </a:xfrm>
          <a:prstGeom prst="roundRect">
            <a:avLst>
              <a:gd name="adj" fmla="val 854"/>
            </a:avLst>
          </a:prstGeom>
          <a:solidFill>
            <a:srgbClr val="F8ECE4"/>
          </a:solidFill>
          <a:ln w="12700">
            <a:solidFill>
              <a:srgbClr val="151617"/>
            </a:solidFill>
            <a:prstDash val="solid"/>
          </a:ln>
          <a:effectLst>
            <a:outerShdw blurRad="127" dist="16510" dir="2700000" algn="bl" rotWithShape="0">
              <a:srgbClr val="151617">
                <a:alpha val="100000"/>
              </a:srgbClr>
            </a:outerShdw>
          </a:effectLst>
        </p:spPr>
      </p:sp>
      <p:sp>
        <p:nvSpPr>
          <p:cNvPr id="18" name="Text 10"/>
          <p:cNvSpPr/>
          <p:nvPr/>
        </p:nvSpPr>
        <p:spPr>
          <a:xfrm>
            <a:off x="800774" y="5146377"/>
            <a:ext cx="3279693"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Booking Features</a:t>
            </a:r>
            <a:endParaRPr lang="en-US" sz="1200" dirty="0"/>
          </a:p>
        </p:txBody>
      </p:sp>
      <p:sp>
        <p:nvSpPr>
          <p:cNvPr id="19" name="Text 11"/>
          <p:cNvSpPr/>
          <p:nvPr/>
        </p:nvSpPr>
        <p:spPr>
          <a:xfrm>
            <a:off x="800774" y="5402263"/>
            <a:ext cx="32796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Unique booking IDs, multi-ticket booking, seat-number selection, booking receipts</a:t>
            </a:r>
            <a:endParaRPr lang="en-US" sz="950" dirty="0"/>
          </a:p>
        </p:txBody>
      </p:sp>
      <p:sp>
        <p:nvSpPr>
          <p:cNvPr id="20" name="Shape 12"/>
          <p:cNvSpPr/>
          <p:nvPr/>
        </p:nvSpPr>
        <p:spPr>
          <a:xfrm>
            <a:off x="4316701" y="5007074"/>
            <a:ext cx="3558292" cy="892076"/>
          </a:xfrm>
          <a:prstGeom prst="roundRect">
            <a:avLst>
              <a:gd name="adj" fmla="val 854"/>
            </a:avLst>
          </a:prstGeom>
          <a:solidFill>
            <a:srgbClr val="F8ECE4"/>
          </a:solidFill>
          <a:ln w="12700">
            <a:solidFill>
              <a:srgbClr val="151617"/>
            </a:solidFill>
            <a:prstDash val="solid"/>
          </a:ln>
          <a:effectLst>
            <a:outerShdw blurRad="127" dist="16510" dir="2700000" algn="bl" rotWithShape="0">
              <a:srgbClr val="151617">
                <a:alpha val="100000"/>
              </a:srgbClr>
            </a:outerShdw>
          </a:effectLst>
        </p:spPr>
      </p:sp>
      <p:sp>
        <p:nvSpPr>
          <p:cNvPr id="21" name="Text 13"/>
          <p:cNvSpPr/>
          <p:nvPr/>
        </p:nvSpPr>
        <p:spPr>
          <a:xfrm>
            <a:off x="4456001" y="5146377"/>
            <a:ext cx="3279693"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Data Persistence</a:t>
            </a:r>
            <a:endParaRPr lang="en-US" sz="1200" dirty="0"/>
          </a:p>
        </p:txBody>
      </p:sp>
      <p:sp>
        <p:nvSpPr>
          <p:cNvPr id="22" name="Text 14"/>
          <p:cNvSpPr/>
          <p:nvPr/>
        </p:nvSpPr>
        <p:spPr>
          <a:xfrm>
            <a:off x="4456001" y="5402263"/>
            <a:ext cx="32796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File handling for permanent storage, customer booking history</a:t>
            </a:r>
            <a:endParaRPr lang="en-US" sz="950" dirty="0"/>
          </a:p>
        </p:txBody>
      </p:sp>
      <p:sp>
        <p:nvSpPr>
          <p:cNvPr id="23" name="Shape 15"/>
          <p:cNvSpPr/>
          <p:nvPr/>
        </p:nvSpPr>
        <p:spPr>
          <a:xfrm>
            <a:off x="7971928" y="5007074"/>
            <a:ext cx="3558292" cy="892076"/>
          </a:xfrm>
          <a:prstGeom prst="roundRect">
            <a:avLst>
              <a:gd name="adj" fmla="val 854"/>
            </a:avLst>
          </a:prstGeom>
          <a:solidFill>
            <a:srgbClr val="F8ECE4"/>
          </a:solidFill>
          <a:ln w="12700">
            <a:solidFill>
              <a:srgbClr val="151617"/>
            </a:solidFill>
            <a:prstDash val="solid"/>
          </a:ln>
          <a:effectLst>
            <a:outerShdw blurRad="127" dist="16510" dir="2700000" algn="bl" rotWithShape="0">
              <a:srgbClr val="151617">
                <a:alpha val="100000"/>
              </a:srgbClr>
            </a:outerShdw>
          </a:effectLst>
        </p:spPr>
      </p:sp>
      <p:sp>
        <p:nvSpPr>
          <p:cNvPr id="24" name="Text 16"/>
          <p:cNvSpPr/>
          <p:nvPr/>
        </p:nvSpPr>
        <p:spPr>
          <a:xfrm>
            <a:off x="8111228" y="5146377"/>
            <a:ext cx="3279693" cy="197743"/>
          </a:xfrm>
          <a:prstGeom prst="rect">
            <a:avLst/>
          </a:prstGeom>
          <a:noFill/>
          <a:ln/>
        </p:spPr>
        <p:txBody>
          <a:bodyPr wrap="none" lIns="0" tIns="0" rIns="0" bIns="0" rtlCol="0" anchor="t"/>
          <a:lstStyle/>
          <a:p>
            <a:pPr marL="0" indent="0" algn="l">
              <a:lnSpc>
                <a:spcPct val="104000"/>
              </a:lnSpc>
              <a:buNone/>
            </a:pPr>
            <a:r>
              <a:rPr lang="en-US" sz="1200" dirty="0">
                <a:solidFill>
                  <a:srgbClr val="151617"/>
                </a:solidFill>
                <a:latin typeface="Montserrat Black" pitchFamily="34" charset="0"/>
                <a:ea typeface="Montserrat Black" pitchFamily="34" charset="-122"/>
                <a:cs typeface="Montserrat Black" pitchFamily="34" charset="-120"/>
              </a:rPr>
              <a:t>System Features</a:t>
            </a:r>
            <a:endParaRPr lang="en-US" sz="1200" dirty="0"/>
          </a:p>
        </p:txBody>
      </p:sp>
      <p:sp>
        <p:nvSpPr>
          <p:cNvPr id="25" name="Text 17"/>
          <p:cNvSpPr/>
          <p:nvPr/>
        </p:nvSpPr>
        <p:spPr>
          <a:xfrm>
            <a:off x="8111228" y="5402263"/>
            <a:ext cx="32796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51617"/>
                </a:solidFill>
                <a:latin typeface="Inconsolata" pitchFamily="34" charset="0"/>
                <a:ea typeface="Inconsolata" pitchFamily="34" charset="-122"/>
                <a:cs typeface="Inconsolata" pitchFamily="34" charset="-120"/>
              </a:rPr>
              <a:t>Admin login, movie add/delete, circular queue, online payment simulation</a:t>
            </a:r>
            <a:endParaRPr lang="en-US" sz="950" dirty="0"/>
          </a:p>
        </p:txBody>
      </p:sp>
      <p:pic>
        <p:nvPicPr>
          <p:cNvPr id="28" name="Picture 27">
            <a:extLst>
              <a:ext uri="{FF2B5EF4-FFF2-40B4-BE49-F238E27FC236}">
                <a16:creationId xmlns:a16="http://schemas.microsoft.com/office/drawing/2014/main" id="{97423224-9294-7129-F2D1-8AE166594FC6}"/>
              </a:ext>
            </a:extLst>
          </p:cNvPr>
          <p:cNvPicPr>
            <a:picLocks noChangeAspect="1"/>
          </p:cNvPicPr>
          <p:nvPr/>
        </p:nvPicPr>
        <p:blipFill>
          <a:blip r:embed="rId4"/>
          <a:stretch>
            <a:fillRect/>
          </a:stretch>
        </p:blipFill>
        <p:spPr>
          <a:xfrm>
            <a:off x="8111228" y="6341160"/>
            <a:ext cx="4019261" cy="4619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1179</Words>
  <Application>Microsoft Office PowerPoint</Application>
  <PresentationFormat>Widescreen</PresentationFormat>
  <Paragraphs>228</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Montserrat Black</vt:lpstr>
      <vt:lpstr>Inconsolata</vt:lpstr>
      <vt:lpstr>Aptos</vt:lpstr>
      <vt:lpstr>Consolas</vt:lpstr>
      <vt:lpstr>Inconsolata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Aayush Manjrekar</cp:lastModifiedBy>
  <cp:revision>10</cp:revision>
  <dcterms:created xsi:type="dcterms:W3CDTF">2026-09-30T19:53:18Z</dcterms:created>
  <dcterms:modified xsi:type="dcterms:W3CDTF">2026-10-01T07:19:29Z</dcterms:modified>
</cp:coreProperties>
</file>